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60" r:id="rId4"/>
    <p:sldId id="258" r:id="rId5"/>
    <p:sldId id="269" r:id="rId6"/>
    <p:sldId id="267" r:id="rId7"/>
    <p:sldId id="261" r:id="rId8"/>
    <p:sldId id="259" r:id="rId9"/>
    <p:sldId id="262" r:id="rId10"/>
    <p:sldId id="266" r:id="rId11"/>
    <p:sldId id="264" r:id="rId12"/>
    <p:sldId id="265" r:id="rId13"/>
  </p:sldIdLst>
  <p:sldSz cx="14630400" cy="8229600"/>
  <p:notesSz cx="8229600" cy="14630400"/>
  <p:embeddedFontLst>
    <p:embeddedFont>
      <p:font typeface="Raleway Medium" pitchFamily="2" charset="0"/>
      <p:regular r:id="rId15"/>
      <p: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56" d="100"/>
          <a:sy n="56" d="100"/>
        </p:scale>
        <p:origin x="62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527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7E694-C31A-C1DB-89AE-D79D17204E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F0952-01A8-6232-647D-726192B54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471F3-CFD5-4E8C-B5EB-AC175D5614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E62423-47F6-A98F-7820-DE931D14509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102890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B1B1E"/>
          </a:solidFill>
          <a:ln/>
        </p:spPr>
      </p:sp>
      <p:sp>
        <p:nvSpPr>
          <p:cNvPr id="3" name="Shape 1"/>
          <p:cNvSpPr/>
          <p:nvPr/>
        </p:nvSpPr>
        <p:spPr>
          <a:xfrm>
            <a:off x="0" y="0"/>
            <a:ext cx="14630400" cy="8229600"/>
          </a:xfrm>
          <a:prstGeom prst="rect">
            <a:avLst/>
          </a:prstGeom>
          <a:solidFill>
            <a:srgbClr val="27272B"/>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sv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26.svg"/><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66329" y="3086100"/>
            <a:ext cx="7415927" cy="2057400"/>
          </a:xfrm>
          <a:prstGeom prst="rect">
            <a:avLst/>
          </a:prstGeom>
          <a:noFill/>
          <a:ln/>
        </p:spPr>
        <p:txBody>
          <a:bodyPr wrap="squar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Emotion Recognition from Speech Using Machine Learning</a:t>
            </a:r>
            <a:endParaRPr lang="en-US" sz="4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08898" y="987623"/>
            <a:ext cx="7726204" cy="1125379"/>
          </a:xfrm>
          <a:prstGeom prst="rect">
            <a:avLst/>
          </a:prstGeom>
          <a:noFill/>
          <a:ln/>
        </p:spPr>
        <p:txBody>
          <a:bodyPr wrap="square" lIns="0" tIns="0" rIns="0" bIns="0" rtlCol="0" anchor="t"/>
          <a:lstStyle/>
          <a:p>
            <a:pPr marL="0" indent="0" algn="l">
              <a:lnSpc>
                <a:spcPts val="4400"/>
              </a:lnSpc>
              <a:buNone/>
            </a:pPr>
            <a:r>
              <a:rPr lang="en-US" sz="3500" b="1" dirty="0">
                <a:solidFill>
                  <a:srgbClr val="FFE14D"/>
                </a:solidFill>
                <a:latin typeface="Comfortaa Bold" pitchFamily="34" charset="0"/>
                <a:ea typeface="Comfortaa Bold" pitchFamily="34" charset="-122"/>
                <a:cs typeface="Comfortaa Bold" pitchFamily="34" charset="-120"/>
              </a:rPr>
              <a:t>Why Emotion Recognition from Speech Matters</a:t>
            </a:r>
            <a:endParaRPr lang="en-US" sz="3500" dirty="0"/>
          </a:p>
        </p:txBody>
      </p:sp>
      <p:sp>
        <p:nvSpPr>
          <p:cNvPr id="4" name="Shape 1"/>
          <p:cNvSpPr/>
          <p:nvPr/>
        </p:nvSpPr>
        <p:spPr>
          <a:xfrm>
            <a:off x="708898" y="2416850"/>
            <a:ext cx="3761780" cy="2473285"/>
          </a:xfrm>
          <a:prstGeom prst="roundRect">
            <a:avLst>
              <a:gd name="adj" fmla="val 4437"/>
            </a:avLst>
          </a:prstGeom>
          <a:solidFill>
            <a:srgbClr val="27272B"/>
          </a:solidFill>
          <a:ln w="22860">
            <a:solidFill>
              <a:srgbClr val="5F5F63"/>
            </a:solidFill>
            <a:prstDash val="solid"/>
          </a:ln>
        </p:spPr>
      </p:sp>
      <p:sp>
        <p:nvSpPr>
          <p:cNvPr id="5" name="Shape 2"/>
          <p:cNvSpPr/>
          <p:nvPr/>
        </p:nvSpPr>
        <p:spPr>
          <a:xfrm>
            <a:off x="686038" y="2416850"/>
            <a:ext cx="91440" cy="2473285"/>
          </a:xfrm>
          <a:prstGeom prst="roundRect">
            <a:avLst>
              <a:gd name="adj" fmla="val 332294"/>
            </a:avLst>
          </a:prstGeom>
          <a:solidFill>
            <a:srgbClr val="FFE14D"/>
          </a:solidFill>
          <a:ln/>
        </p:spPr>
      </p:sp>
      <p:sp>
        <p:nvSpPr>
          <p:cNvPr id="6" name="Text 3"/>
          <p:cNvSpPr/>
          <p:nvPr/>
        </p:nvSpPr>
        <p:spPr>
          <a:xfrm>
            <a:off x="1002863" y="2642235"/>
            <a:ext cx="3242429" cy="562451"/>
          </a:xfrm>
          <a:prstGeom prst="rect">
            <a:avLst/>
          </a:prstGeom>
          <a:noFill/>
          <a:ln/>
        </p:spPr>
        <p:txBody>
          <a:bodyPr wrap="squar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Understanding Human Communication</a:t>
            </a:r>
            <a:endParaRPr lang="en-US" sz="1750" dirty="0"/>
          </a:p>
        </p:txBody>
      </p:sp>
      <p:sp>
        <p:nvSpPr>
          <p:cNvPr id="7" name="Text 4"/>
          <p:cNvSpPr/>
          <p:nvPr/>
        </p:nvSpPr>
        <p:spPr>
          <a:xfrm>
            <a:off x="1002863" y="3326130"/>
            <a:ext cx="3242429" cy="1295876"/>
          </a:xfrm>
          <a:prstGeom prst="rect">
            <a:avLst/>
          </a:prstGeom>
          <a:noFill/>
          <a:ln/>
        </p:spPr>
        <p:txBody>
          <a:bodyPr wrap="square" lIns="0" tIns="0" rIns="0" bIns="0" rtlCol="0" anchor="t"/>
          <a:lstStyle/>
          <a:p>
            <a:pPr marL="0" indent="0" algn="l">
              <a:lnSpc>
                <a:spcPts val="2550"/>
              </a:lnSpc>
              <a:buNone/>
            </a:pPr>
            <a:r>
              <a:rPr lang="en-US" sz="1550" dirty="0">
                <a:solidFill>
                  <a:srgbClr val="D7D4CC"/>
                </a:solidFill>
                <a:latin typeface="Raleway Medium" pitchFamily="34" charset="0"/>
                <a:ea typeface="Raleway Medium" pitchFamily="34" charset="-122"/>
                <a:cs typeface="Raleway Medium" pitchFamily="34" charset="-120"/>
              </a:rPr>
              <a:t>Emotions like happy, sad, angry, and neutral are fundamental to human interaction and social intelligence.</a:t>
            </a:r>
            <a:endParaRPr lang="en-US" sz="1550" dirty="0"/>
          </a:p>
        </p:txBody>
      </p:sp>
      <p:sp>
        <p:nvSpPr>
          <p:cNvPr id="8" name="Shape 5"/>
          <p:cNvSpPr/>
          <p:nvPr/>
        </p:nvSpPr>
        <p:spPr>
          <a:xfrm>
            <a:off x="4673203" y="2416850"/>
            <a:ext cx="3761899" cy="2473285"/>
          </a:xfrm>
          <a:prstGeom prst="roundRect">
            <a:avLst>
              <a:gd name="adj" fmla="val 4437"/>
            </a:avLst>
          </a:prstGeom>
          <a:solidFill>
            <a:srgbClr val="27272B"/>
          </a:solidFill>
          <a:ln w="22860">
            <a:solidFill>
              <a:srgbClr val="5F5F63"/>
            </a:solidFill>
            <a:prstDash val="solid"/>
          </a:ln>
        </p:spPr>
      </p:sp>
      <p:sp>
        <p:nvSpPr>
          <p:cNvPr id="9" name="Shape 6"/>
          <p:cNvSpPr/>
          <p:nvPr/>
        </p:nvSpPr>
        <p:spPr>
          <a:xfrm>
            <a:off x="4650343" y="2416850"/>
            <a:ext cx="91440" cy="2473285"/>
          </a:xfrm>
          <a:prstGeom prst="roundRect">
            <a:avLst>
              <a:gd name="adj" fmla="val 332294"/>
            </a:avLst>
          </a:prstGeom>
          <a:solidFill>
            <a:srgbClr val="FFE14D"/>
          </a:solidFill>
          <a:ln/>
        </p:spPr>
      </p:sp>
      <p:sp>
        <p:nvSpPr>
          <p:cNvPr id="10" name="Text 7"/>
          <p:cNvSpPr/>
          <p:nvPr/>
        </p:nvSpPr>
        <p:spPr>
          <a:xfrm>
            <a:off x="4967168" y="2642235"/>
            <a:ext cx="2826068" cy="281226"/>
          </a:xfrm>
          <a:prstGeom prst="rect">
            <a:avLst/>
          </a:prstGeom>
          <a:noFill/>
          <a:ln/>
        </p:spPr>
        <p:txBody>
          <a:bodyPr wrap="non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Enhancing Applications</a:t>
            </a:r>
            <a:endParaRPr lang="en-US" sz="1750" dirty="0"/>
          </a:p>
        </p:txBody>
      </p:sp>
      <p:sp>
        <p:nvSpPr>
          <p:cNvPr id="11" name="Text 8"/>
          <p:cNvSpPr/>
          <p:nvPr/>
        </p:nvSpPr>
        <p:spPr>
          <a:xfrm>
            <a:off x="4967168" y="3044904"/>
            <a:ext cx="3242548" cy="1619845"/>
          </a:xfrm>
          <a:prstGeom prst="rect">
            <a:avLst/>
          </a:prstGeom>
          <a:noFill/>
          <a:ln/>
        </p:spPr>
        <p:txBody>
          <a:bodyPr wrap="square" lIns="0" tIns="0" rIns="0" bIns="0" rtlCol="0" anchor="t"/>
          <a:lstStyle/>
          <a:p>
            <a:pPr marL="0" indent="0" algn="l">
              <a:lnSpc>
                <a:spcPts val="2550"/>
              </a:lnSpc>
              <a:buNone/>
            </a:pPr>
            <a:r>
              <a:rPr lang="en-US" sz="1550" dirty="0">
                <a:solidFill>
                  <a:srgbClr val="D7D4CC"/>
                </a:solidFill>
                <a:latin typeface="Raleway Medium" pitchFamily="34" charset="0"/>
                <a:ea typeface="Raleway Medium" pitchFamily="34" charset="-122"/>
                <a:cs typeface="Raleway Medium" pitchFamily="34" charset="-120"/>
              </a:rPr>
              <a:t>Automatic recognition revolutionizes healthcare, customer service, and human-computer interaction by adding emotional intelligence.</a:t>
            </a:r>
            <a:endParaRPr lang="en-US" sz="1550" dirty="0"/>
          </a:p>
        </p:txBody>
      </p:sp>
      <p:sp>
        <p:nvSpPr>
          <p:cNvPr id="12" name="Shape 9"/>
          <p:cNvSpPr/>
          <p:nvPr/>
        </p:nvSpPr>
        <p:spPr>
          <a:xfrm>
            <a:off x="708898" y="5092660"/>
            <a:ext cx="3761780" cy="2149316"/>
          </a:xfrm>
          <a:prstGeom prst="roundRect">
            <a:avLst>
              <a:gd name="adj" fmla="val 5105"/>
            </a:avLst>
          </a:prstGeom>
          <a:solidFill>
            <a:srgbClr val="27272B"/>
          </a:solidFill>
          <a:ln w="22860">
            <a:solidFill>
              <a:srgbClr val="5F5F63"/>
            </a:solidFill>
            <a:prstDash val="solid"/>
          </a:ln>
        </p:spPr>
      </p:sp>
      <p:sp>
        <p:nvSpPr>
          <p:cNvPr id="13" name="Shape 10"/>
          <p:cNvSpPr/>
          <p:nvPr/>
        </p:nvSpPr>
        <p:spPr>
          <a:xfrm>
            <a:off x="686038" y="5092660"/>
            <a:ext cx="91440" cy="2149316"/>
          </a:xfrm>
          <a:prstGeom prst="roundRect">
            <a:avLst>
              <a:gd name="adj" fmla="val 332294"/>
            </a:avLst>
          </a:prstGeom>
          <a:solidFill>
            <a:srgbClr val="FFE14D"/>
          </a:solidFill>
          <a:ln/>
        </p:spPr>
      </p:sp>
      <p:sp>
        <p:nvSpPr>
          <p:cNvPr id="14" name="Text 11"/>
          <p:cNvSpPr/>
          <p:nvPr/>
        </p:nvSpPr>
        <p:spPr>
          <a:xfrm>
            <a:off x="1002863" y="5318046"/>
            <a:ext cx="2734985" cy="281226"/>
          </a:xfrm>
          <a:prstGeom prst="rect">
            <a:avLst/>
          </a:prstGeom>
          <a:noFill/>
          <a:ln/>
        </p:spPr>
        <p:txBody>
          <a:bodyPr wrap="none" lIns="0" tIns="0" rIns="0" bIns="0" rtlCol="0" anchor="t"/>
          <a:lstStyle/>
          <a:p>
            <a:pPr marL="0" indent="0" algn="l">
              <a:lnSpc>
                <a:spcPts val="2200"/>
              </a:lnSpc>
              <a:buNone/>
            </a:pPr>
            <a:r>
              <a:rPr lang="en-US" sz="1750" b="1" dirty="0">
                <a:solidFill>
                  <a:srgbClr val="D7D4CC"/>
                </a:solidFill>
                <a:latin typeface="Comfortaa Bold" pitchFamily="34" charset="0"/>
                <a:ea typeface="Comfortaa Bold" pitchFamily="34" charset="-122"/>
                <a:cs typeface="Comfortaa Bold" pitchFamily="34" charset="-120"/>
              </a:rPr>
              <a:t>The Subtlety Challenge</a:t>
            </a:r>
            <a:endParaRPr lang="en-US" sz="1750" dirty="0"/>
          </a:p>
        </p:txBody>
      </p:sp>
      <p:sp>
        <p:nvSpPr>
          <p:cNvPr id="15" name="Text 12"/>
          <p:cNvSpPr/>
          <p:nvPr/>
        </p:nvSpPr>
        <p:spPr>
          <a:xfrm>
            <a:off x="1002863" y="5720715"/>
            <a:ext cx="3242429" cy="1295876"/>
          </a:xfrm>
          <a:prstGeom prst="rect">
            <a:avLst/>
          </a:prstGeom>
          <a:noFill/>
          <a:ln/>
        </p:spPr>
        <p:txBody>
          <a:bodyPr wrap="square" lIns="0" tIns="0" rIns="0" bIns="0" rtlCol="0" anchor="t"/>
          <a:lstStyle/>
          <a:p>
            <a:pPr marL="0" indent="0" algn="l">
              <a:lnSpc>
                <a:spcPts val="2550"/>
              </a:lnSpc>
              <a:buNone/>
            </a:pPr>
            <a:r>
              <a:rPr lang="en-US" sz="1550" dirty="0">
                <a:solidFill>
                  <a:srgbClr val="D7D4CC"/>
                </a:solidFill>
                <a:latin typeface="Raleway Medium" pitchFamily="34" charset="0"/>
                <a:ea typeface="Raleway Medium" pitchFamily="34" charset="-122"/>
                <a:cs typeface="Raleway Medium" pitchFamily="34" charset="-120"/>
              </a:rPr>
              <a:t>Emotions are complex, nuanced, and vary widely across individuals and contexts, posing a significant challenge for AI.</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34603" y="642104"/>
            <a:ext cx="7874794" cy="1007269"/>
          </a:xfrm>
          <a:prstGeom prst="rect">
            <a:avLst/>
          </a:prstGeom>
          <a:noFill/>
          <a:ln/>
        </p:spPr>
        <p:txBody>
          <a:bodyPr wrap="square" lIns="0" tIns="0" rIns="0" bIns="0" rtlCol="0" anchor="t"/>
          <a:lstStyle/>
          <a:p>
            <a:pPr marL="0" indent="0" algn="l">
              <a:lnSpc>
                <a:spcPts val="3950"/>
              </a:lnSpc>
              <a:buNone/>
            </a:pPr>
            <a:r>
              <a:rPr lang="en-US" sz="3150" b="1" dirty="0">
                <a:solidFill>
                  <a:srgbClr val="FFE14D"/>
                </a:solidFill>
                <a:latin typeface="Comfortaa Bold" pitchFamily="34" charset="0"/>
                <a:ea typeface="Comfortaa Bold" pitchFamily="34" charset="-122"/>
                <a:cs typeface="Comfortaa Bold" pitchFamily="34" charset="-120"/>
              </a:rPr>
              <a:t>Workflow Overview: From Audio to Emotion Prediction</a:t>
            </a:r>
            <a:endParaRPr lang="en-US" sz="3150" dirty="0"/>
          </a:p>
        </p:txBody>
      </p:sp>
      <p:sp>
        <p:nvSpPr>
          <p:cNvPr id="4" name="Text 1"/>
          <p:cNvSpPr/>
          <p:nvPr/>
        </p:nvSpPr>
        <p:spPr>
          <a:xfrm>
            <a:off x="634603" y="1921312"/>
            <a:ext cx="181332" cy="226576"/>
          </a:xfrm>
          <a:prstGeom prst="rect">
            <a:avLst/>
          </a:prstGeom>
          <a:noFill/>
          <a:ln/>
        </p:spPr>
        <p:txBody>
          <a:bodyPr wrap="none" lIns="0" tIns="0" rIns="0" bIns="0" rtlCol="0" anchor="t"/>
          <a:lstStyle/>
          <a:p>
            <a:pPr marL="0" indent="0" algn="l">
              <a:lnSpc>
                <a:spcPts val="2250"/>
              </a:lnSpc>
              <a:buNone/>
            </a:pPr>
            <a:r>
              <a:rPr lang="en-US" sz="1400" dirty="0">
                <a:solidFill>
                  <a:srgbClr val="D7D4CC"/>
                </a:solidFill>
                <a:latin typeface="Comfortaa Light" pitchFamily="34" charset="0"/>
                <a:ea typeface="Comfortaa Light" pitchFamily="34" charset="-122"/>
                <a:cs typeface="Comfortaa Light" pitchFamily="34" charset="-120"/>
              </a:rPr>
              <a:t>01</a:t>
            </a:r>
            <a:endParaRPr lang="en-US" sz="1400" dirty="0"/>
          </a:p>
        </p:txBody>
      </p:sp>
      <p:sp>
        <p:nvSpPr>
          <p:cNvPr id="5" name="Shape 2"/>
          <p:cNvSpPr/>
          <p:nvPr/>
        </p:nvSpPr>
        <p:spPr>
          <a:xfrm>
            <a:off x="634603" y="2206466"/>
            <a:ext cx="7874794" cy="22860"/>
          </a:xfrm>
          <a:prstGeom prst="rect">
            <a:avLst/>
          </a:prstGeom>
          <a:solidFill>
            <a:srgbClr val="FFE14D"/>
          </a:solidFill>
          <a:ln/>
        </p:spPr>
      </p:sp>
      <p:sp>
        <p:nvSpPr>
          <p:cNvPr id="6" name="Text 3"/>
          <p:cNvSpPr/>
          <p:nvPr/>
        </p:nvSpPr>
        <p:spPr>
          <a:xfrm>
            <a:off x="634603" y="2342793"/>
            <a:ext cx="2014776" cy="251817"/>
          </a:xfrm>
          <a:prstGeom prst="rect">
            <a:avLst/>
          </a:prstGeom>
          <a:noFill/>
          <a:ln/>
        </p:spPr>
        <p:txBody>
          <a:bodyPr wrap="none" lIns="0" tIns="0" rIns="0" bIns="0" rtlCol="0" anchor="t"/>
          <a:lstStyle/>
          <a:p>
            <a:pPr marL="0" indent="0" algn="l">
              <a:lnSpc>
                <a:spcPts val="1950"/>
              </a:lnSpc>
              <a:buNone/>
            </a:pPr>
            <a:r>
              <a:rPr lang="en-US" sz="1550" b="1" dirty="0">
                <a:solidFill>
                  <a:srgbClr val="D7D4CC"/>
                </a:solidFill>
                <a:latin typeface="Comfortaa Bold" pitchFamily="34" charset="0"/>
                <a:ea typeface="Comfortaa Bold" pitchFamily="34" charset="-122"/>
                <a:cs typeface="Comfortaa Bold" pitchFamily="34" charset="-120"/>
              </a:rPr>
              <a:t>Feature Extraction</a:t>
            </a:r>
            <a:endParaRPr lang="en-US" sz="1550" dirty="0"/>
          </a:p>
        </p:txBody>
      </p:sp>
      <p:sp>
        <p:nvSpPr>
          <p:cNvPr id="7" name="Text 4"/>
          <p:cNvSpPr/>
          <p:nvPr/>
        </p:nvSpPr>
        <p:spPr>
          <a:xfrm>
            <a:off x="634603" y="2703314"/>
            <a:ext cx="7874794" cy="290036"/>
          </a:xfrm>
          <a:prstGeom prst="rect">
            <a:avLst/>
          </a:prstGeom>
          <a:noFill/>
          <a:ln/>
        </p:spPr>
        <p:txBody>
          <a:bodyPr wrap="none" lIns="0" tIns="0" rIns="0" bIns="0" rtlCol="0" anchor="t"/>
          <a:lstStyle/>
          <a:p>
            <a:pPr marL="0" indent="0" algn="l">
              <a:lnSpc>
                <a:spcPts val="2250"/>
              </a:lnSpc>
              <a:buNone/>
            </a:pPr>
            <a:r>
              <a:rPr lang="en-US" sz="1400" dirty="0">
                <a:solidFill>
                  <a:srgbClr val="D7D4CC"/>
                </a:solidFill>
                <a:latin typeface="Raleway Medium" pitchFamily="34" charset="0"/>
                <a:ea typeface="Raleway Medium" pitchFamily="34" charset="-122"/>
                <a:cs typeface="Raleway Medium" pitchFamily="34" charset="-120"/>
              </a:rPr>
              <a:t>Utilize Librosa for audio preprocessing and robust MFCC feature extraction.</a:t>
            </a:r>
            <a:endParaRPr lang="en-US" sz="1400" dirty="0"/>
          </a:p>
        </p:txBody>
      </p:sp>
      <p:sp>
        <p:nvSpPr>
          <p:cNvPr id="8" name="Text 5"/>
          <p:cNvSpPr/>
          <p:nvPr/>
        </p:nvSpPr>
        <p:spPr>
          <a:xfrm>
            <a:off x="634603" y="3310652"/>
            <a:ext cx="181332" cy="226576"/>
          </a:xfrm>
          <a:prstGeom prst="rect">
            <a:avLst/>
          </a:prstGeom>
          <a:noFill/>
          <a:ln/>
        </p:spPr>
        <p:txBody>
          <a:bodyPr wrap="none" lIns="0" tIns="0" rIns="0" bIns="0" rtlCol="0" anchor="t"/>
          <a:lstStyle/>
          <a:p>
            <a:pPr marL="0" indent="0" algn="l">
              <a:lnSpc>
                <a:spcPts val="2250"/>
              </a:lnSpc>
              <a:buNone/>
            </a:pPr>
            <a:r>
              <a:rPr lang="en-US" sz="1400" dirty="0">
                <a:solidFill>
                  <a:srgbClr val="D7D4CC"/>
                </a:solidFill>
                <a:latin typeface="Comfortaa Light" pitchFamily="34" charset="0"/>
                <a:ea typeface="Comfortaa Light" pitchFamily="34" charset="-122"/>
                <a:cs typeface="Comfortaa Light" pitchFamily="34" charset="-120"/>
              </a:rPr>
              <a:t>02</a:t>
            </a:r>
            <a:endParaRPr lang="en-US" sz="1400" dirty="0"/>
          </a:p>
        </p:txBody>
      </p:sp>
      <p:sp>
        <p:nvSpPr>
          <p:cNvPr id="9" name="Shape 6"/>
          <p:cNvSpPr/>
          <p:nvPr/>
        </p:nvSpPr>
        <p:spPr>
          <a:xfrm>
            <a:off x="634603" y="3595807"/>
            <a:ext cx="7874794" cy="22860"/>
          </a:xfrm>
          <a:prstGeom prst="rect">
            <a:avLst/>
          </a:prstGeom>
          <a:solidFill>
            <a:srgbClr val="FFE14D"/>
          </a:solidFill>
          <a:ln/>
        </p:spPr>
      </p:sp>
      <p:sp>
        <p:nvSpPr>
          <p:cNvPr id="10" name="Text 7"/>
          <p:cNvSpPr/>
          <p:nvPr/>
        </p:nvSpPr>
        <p:spPr>
          <a:xfrm>
            <a:off x="634603" y="3732133"/>
            <a:ext cx="2143720" cy="251817"/>
          </a:xfrm>
          <a:prstGeom prst="rect">
            <a:avLst/>
          </a:prstGeom>
          <a:noFill/>
          <a:ln/>
        </p:spPr>
        <p:txBody>
          <a:bodyPr wrap="none" lIns="0" tIns="0" rIns="0" bIns="0" rtlCol="0" anchor="t"/>
          <a:lstStyle/>
          <a:p>
            <a:pPr marL="0" indent="0" algn="l">
              <a:lnSpc>
                <a:spcPts val="1950"/>
              </a:lnSpc>
              <a:buNone/>
            </a:pPr>
            <a:r>
              <a:rPr lang="en-US" sz="1550" b="1" dirty="0">
                <a:solidFill>
                  <a:srgbClr val="D7D4CC"/>
                </a:solidFill>
                <a:latin typeface="Comfortaa Bold" pitchFamily="34" charset="0"/>
                <a:ea typeface="Comfortaa Bold" pitchFamily="34" charset="-122"/>
                <a:cs typeface="Comfortaa Bold" pitchFamily="34" charset="-120"/>
              </a:rPr>
              <a:t>Dataset Preparation</a:t>
            </a:r>
            <a:endParaRPr lang="en-US" sz="1550" dirty="0"/>
          </a:p>
        </p:txBody>
      </p:sp>
      <p:sp>
        <p:nvSpPr>
          <p:cNvPr id="11" name="Text 8"/>
          <p:cNvSpPr/>
          <p:nvPr/>
        </p:nvSpPr>
        <p:spPr>
          <a:xfrm>
            <a:off x="634603" y="4092654"/>
            <a:ext cx="7874794" cy="290036"/>
          </a:xfrm>
          <a:prstGeom prst="rect">
            <a:avLst/>
          </a:prstGeom>
          <a:noFill/>
          <a:ln/>
        </p:spPr>
        <p:txBody>
          <a:bodyPr wrap="none" lIns="0" tIns="0" rIns="0" bIns="0" rtlCol="0" anchor="t"/>
          <a:lstStyle/>
          <a:p>
            <a:pPr marL="0" indent="0" algn="l">
              <a:lnSpc>
                <a:spcPts val="2250"/>
              </a:lnSpc>
              <a:buNone/>
            </a:pPr>
            <a:r>
              <a:rPr lang="en-US" sz="1400" dirty="0">
                <a:solidFill>
                  <a:srgbClr val="D7D4CC"/>
                </a:solidFill>
                <a:latin typeface="Raleway Medium" pitchFamily="34" charset="0"/>
                <a:ea typeface="Raleway Medium" pitchFamily="34" charset="-122"/>
                <a:cs typeface="Raleway Medium" pitchFamily="34" charset="-120"/>
              </a:rPr>
              <a:t>Curate and label datasets with emotions: happy, sad, angry, and neutral speech samples.</a:t>
            </a:r>
            <a:endParaRPr lang="en-US" sz="1400" dirty="0"/>
          </a:p>
        </p:txBody>
      </p:sp>
      <p:sp>
        <p:nvSpPr>
          <p:cNvPr id="12" name="Text 9"/>
          <p:cNvSpPr/>
          <p:nvPr/>
        </p:nvSpPr>
        <p:spPr>
          <a:xfrm>
            <a:off x="634603" y="4699992"/>
            <a:ext cx="181332" cy="226576"/>
          </a:xfrm>
          <a:prstGeom prst="rect">
            <a:avLst/>
          </a:prstGeom>
          <a:noFill/>
          <a:ln/>
        </p:spPr>
        <p:txBody>
          <a:bodyPr wrap="none" lIns="0" tIns="0" rIns="0" bIns="0" rtlCol="0" anchor="t"/>
          <a:lstStyle/>
          <a:p>
            <a:pPr marL="0" indent="0" algn="l">
              <a:lnSpc>
                <a:spcPts val="2250"/>
              </a:lnSpc>
              <a:buNone/>
            </a:pPr>
            <a:r>
              <a:rPr lang="en-US" sz="1400" dirty="0">
                <a:solidFill>
                  <a:srgbClr val="D7D4CC"/>
                </a:solidFill>
                <a:latin typeface="Comfortaa Light" pitchFamily="34" charset="0"/>
                <a:ea typeface="Comfortaa Light" pitchFamily="34" charset="-122"/>
                <a:cs typeface="Comfortaa Light" pitchFamily="34" charset="-120"/>
              </a:rPr>
              <a:t>03</a:t>
            </a:r>
            <a:endParaRPr lang="en-US" sz="1400" dirty="0"/>
          </a:p>
        </p:txBody>
      </p:sp>
      <p:sp>
        <p:nvSpPr>
          <p:cNvPr id="13" name="Shape 10"/>
          <p:cNvSpPr/>
          <p:nvPr/>
        </p:nvSpPr>
        <p:spPr>
          <a:xfrm>
            <a:off x="634603" y="4985147"/>
            <a:ext cx="7874794" cy="22860"/>
          </a:xfrm>
          <a:prstGeom prst="rect">
            <a:avLst/>
          </a:prstGeom>
          <a:solidFill>
            <a:srgbClr val="FFE14D"/>
          </a:solidFill>
          <a:ln/>
        </p:spPr>
      </p:sp>
      <p:sp>
        <p:nvSpPr>
          <p:cNvPr id="14" name="Text 11"/>
          <p:cNvSpPr/>
          <p:nvPr/>
        </p:nvSpPr>
        <p:spPr>
          <a:xfrm>
            <a:off x="634603" y="5121473"/>
            <a:ext cx="2722721" cy="251817"/>
          </a:xfrm>
          <a:prstGeom prst="rect">
            <a:avLst/>
          </a:prstGeom>
          <a:noFill/>
          <a:ln/>
        </p:spPr>
        <p:txBody>
          <a:bodyPr wrap="none" lIns="0" tIns="0" rIns="0" bIns="0" rtlCol="0" anchor="t"/>
          <a:lstStyle/>
          <a:p>
            <a:pPr marL="0" indent="0" algn="l">
              <a:lnSpc>
                <a:spcPts val="1950"/>
              </a:lnSpc>
              <a:buNone/>
            </a:pPr>
            <a:r>
              <a:rPr lang="en-US" sz="1550" b="1" dirty="0">
                <a:solidFill>
                  <a:srgbClr val="D7D4CC"/>
                </a:solidFill>
                <a:latin typeface="Comfortaa Bold" pitchFamily="34" charset="0"/>
                <a:ea typeface="Comfortaa Bold" pitchFamily="34" charset="-122"/>
                <a:cs typeface="Comfortaa Bold" pitchFamily="34" charset="-120"/>
              </a:rPr>
              <a:t>Model Building &amp; Training</a:t>
            </a:r>
            <a:endParaRPr lang="en-US" sz="1550" dirty="0"/>
          </a:p>
        </p:txBody>
      </p:sp>
      <p:sp>
        <p:nvSpPr>
          <p:cNvPr id="15" name="Text 12"/>
          <p:cNvSpPr/>
          <p:nvPr/>
        </p:nvSpPr>
        <p:spPr>
          <a:xfrm>
            <a:off x="634603" y="5481995"/>
            <a:ext cx="7874794" cy="290036"/>
          </a:xfrm>
          <a:prstGeom prst="rect">
            <a:avLst/>
          </a:prstGeom>
          <a:noFill/>
          <a:ln/>
        </p:spPr>
        <p:txBody>
          <a:bodyPr wrap="none" lIns="0" tIns="0" rIns="0" bIns="0" rtlCol="0" anchor="t"/>
          <a:lstStyle/>
          <a:p>
            <a:pPr>
              <a:lnSpc>
                <a:spcPts val="2250"/>
              </a:lnSpc>
            </a:pPr>
            <a:r>
              <a:rPr lang="en-US" sz="1400" dirty="0">
                <a:solidFill>
                  <a:srgbClr val="D7D4CC"/>
                </a:solidFill>
                <a:latin typeface="Raleway Medium" pitchFamily="34" charset="0"/>
                <a:ea typeface="Raleway Medium" pitchFamily="34" charset="-122"/>
                <a:cs typeface="Raleway Medium" pitchFamily="34" charset="-120"/>
              </a:rPr>
              <a:t>Develop and train deep learning models (CNN/RNN) using </a:t>
            </a:r>
            <a:r>
              <a:rPr lang="en-US" sz="1400" dirty="0">
                <a:solidFill>
                  <a:schemeClr val="bg2"/>
                </a:solidFill>
                <a:latin typeface="Raleway Medium" pitchFamily="2" charset="0"/>
              </a:rPr>
              <a:t>TensorFlow/</a:t>
            </a:r>
            <a:r>
              <a:rPr lang="en-US" sz="1400" dirty="0" err="1">
                <a:solidFill>
                  <a:schemeClr val="bg2"/>
                </a:solidFill>
                <a:latin typeface="Raleway Medium" pitchFamily="2" charset="0"/>
              </a:rPr>
              <a:t>Keras</a:t>
            </a:r>
            <a:r>
              <a:rPr lang="en-US" sz="1400" dirty="0">
                <a:solidFill>
                  <a:schemeClr val="bg2"/>
                </a:solidFill>
                <a:latin typeface="Raleway Medium" pitchFamily="2" charset="0"/>
                <a:ea typeface="Raleway Medium" pitchFamily="34" charset="-122"/>
                <a:cs typeface="Raleway Medium" pitchFamily="34" charset="-120"/>
              </a:rPr>
              <a:t> </a:t>
            </a:r>
            <a:r>
              <a:rPr lang="en-US" sz="1400" dirty="0">
                <a:solidFill>
                  <a:srgbClr val="D7D4CC"/>
                </a:solidFill>
                <a:latin typeface="Raleway Medium" pitchFamily="34" charset="0"/>
                <a:ea typeface="Raleway Medium" pitchFamily="34" charset="-122"/>
                <a:cs typeface="Raleway Medium" pitchFamily="34" charset="-120"/>
              </a:rPr>
              <a:t>powerful framework.</a:t>
            </a:r>
            <a:endParaRPr lang="en-US" sz="1400" dirty="0"/>
          </a:p>
        </p:txBody>
      </p:sp>
      <p:sp>
        <p:nvSpPr>
          <p:cNvPr id="16" name="Text 13"/>
          <p:cNvSpPr/>
          <p:nvPr/>
        </p:nvSpPr>
        <p:spPr>
          <a:xfrm>
            <a:off x="634603" y="6089333"/>
            <a:ext cx="181332" cy="226576"/>
          </a:xfrm>
          <a:prstGeom prst="rect">
            <a:avLst/>
          </a:prstGeom>
          <a:noFill/>
          <a:ln/>
        </p:spPr>
        <p:txBody>
          <a:bodyPr wrap="none" lIns="0" tIns="0" rIns="0" bIns="0" rtlCol="0" anchor="t"/>
          <a:lstStyle/>
          <a:p>
            <a:pPr marL="0" indent="0" algn="l">
              <a:lnSpc>
                <a:spcPts val="2250"/>
              </a:lnSpc>
              <a:buNone/>
            </a:pPr>
            <a:r>
              <a:rPr lang="en-US" sz="1400" dirty="0">
                <a:solidFill>
                  <a:srgbClr val="D7D4CC"/>
                </a:solidFill>
                <a:latin typeface="Comfortaa Light" pitchFamily="34" charset="0"/>
                <a:ea typeface="Comfortaa Light" pitchFamily="34" charset="-122"/>
                <a:cs typeface="Comfortaa Light" pitchFamily="34" charset="-120"/>
              </a:rPr>
              <a:t>04</a:t>
            </a:r>
            <a:endParaRPr lang="en-US" sz="1400" dirty="0"/>
          </a:p>
        </p:txBody>
      </p:sp>
      <p:sp>
        <p:nvSpPr>
          <p:cNvPr id="17" name="Shape 14"/>
          <p:cNvSpPr/>
          <p:nvPr/>
        </p:nvSpPr>
        <p:spPr>
          <a:xfrm>
            <a:off x="634603" y="6374487"/>
            <a:ext cx="7874794" cy="22860"/>
          </a:xfrm>
          <a:prstGeom prst="rect">
            <a:avLst/>
          </a:prstGeom>
          <a:solidFill>
            <a:srgbClr val="FFE14D"/>
          </a:solidFill>
          <a:ln/>
        </p:spPr>
      </p:sp>
      <p:sp>
        <p:nvSpPr>
          <p:cNvPr id="18" name="Text 15"/>
          <p:cNvSpPr/>
          <p:nvPr/>
        </p:nvSpPr>
        <p:spPr>
          <a:xfrm>
            <a:off x="634603" y="6510814"/>
            <a:ext cx="2150031" cy="251817"/>
          </a:xfrm>
          <a:prstGeom prst="rect">
            <a:avLst/>
          </a:prstGeom>
          <a:noFill/>
          <a:ln/>
        </p:spPr>
        <p:txBody>
          <a:bodyPr wrap="none" lIns="0" tIns="0" rIns="0" bIns="0" rtlCol="0" anchor="t"/>
          <a:lstStyle/>
          <a:p>
            <a:pPr marL="0" indent="0" algn="l">
              <a:lnSpc>
                <a:spcPts val="1950"/>
              </a:lnSpc>
              <a:buNone/>
            </a:pPr>
            <a:r>
              <a:rPr lang="en-US" sz="1550" b="1" dirty="0">
                <a:solidFill>
                  <a:srgbClr val="D7D4CC"/>
                </a:solidFill>
                <a:latin typeface="Comfortaa Bold" pitchFamily="34" charset="0"/>
                <a:ea typeface="Comfortaa Bold" pitchFamily="34" charset="-122"/>
                <a:cs typeface="Comfortaa Bold" pitchFamily="34" charset="-120"/>
              </a:rPr>
              <a:t>Evaluation &amp; Testing</a:t>
            </a:r>
            <a:endParaRPr lang="en-US" sz="1550" dirty="0"/>
          </a:p>
        </p:txBody>
      </p:sp>
      <p:sp>
        <p:nvSpPr>
          <p:cNvPr id="19" name="Text 16"/>
          <p:cNvSpPr/>
          <p:nvPr/>
        </p:nvSpPr>
        <p:spPr>
          <a:xfrm>
            <a:off x="634603" y="6871335"/>
            <a:ext cx="7874794" cy="580073"/>
          </a:xfrm>
          <a:prstGeom prst="rect">
            <a:avLst/>
          </a:prstGeom>
          <a:noFill/>
          <a:ln/>
        </p:spPr>
        <p:txBody>
          <a:bodyPr wrap="square" lIns="0" tIns="0" rIns="0" bIns="0" rtlCol="0" anchor="t"/>
          <a:lstStyle/>
          <a:p>
            <a:pPr marL="0" indent="0" algn="l">
              <a:lnSpc>
                <a:spcPts val="2250"/>
              </a:lnSpc>
              <a:buNone/>
            </a:pPr>
            <a:r>
              <a:rPr lang="en-US" sz="1400" dirty="0">
                <a:solidFill>
                  <a:srgbClr val="D7D4CC"/>
                </a:solidFill>
                <a:latin typeface="Raleway Medium" pitchFamily="34" charset="0"/>
                <a:ea typeface="Raleway Medium" pitchFamily="34" charset="-122"/>
                <a:cs typeface="Raleway Medium" pitchFamily="34" charset="-120"/>
              </a:rPr>
              <a:t>Assess model performance using accuracy metrics, confusion matrices, and real-time inference.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40700" y="660559"/>
            <a:ext cx="12948999" cy="1334214"/>
          </a:xfrm>
          <a:prstGeom prst="rect">
            <a:avLst/>
          </a:prstGeom>
          <a:noFill/>
          <a:ln/>
        </p:spPr>
        <p:txBody>
          <a:bodyPr wrap="square" lIns="0" tIns="0" rIns="0" bIns="0" rtlCol="0" anchor="t"/>
          <a:lstStyle/>
          <a:p>
            <a:pPr marL="0" indent="0" algn="l">
              <a:lnSpc>
                <a:spcPts val="5250"/>
              </a:lnSpc>
              <a:buNone/>
            </a:pPr>
            <a:r>
              <a:rPr lang="en-US" sz="4200" b="1" dirty="0">
                <a:solidFill>
                  <a:srgbClr val="FFE14D"/>
                </a:solidFill>
                <a:latin typeface="Comfortaa Bold" pitchFamily="34" charset="0"/>
                <a:ea typeface="Comfortaa Bold" pitchFamily="34" charset="-122"/>
                <a:cs typeface="Comfortaa Bold" pitchFamily="34" charset="-120"/>
              </a:rPr>
              <a:t>Key Audio Features: Mel-Frequency Cepstral Coefficients (MFCC)</a:t>
            </a:r>
            <a:endParaRPr lang="en-US" sz="4200" dirty="0"/>
          </a:p>
        </p:txBody>
      </p:sp>
      <p:sp>
        <p:nvSpPr>
          <p:cNvPr id="3" name="Text 1"/>
          <p:cNvSpPr/>
          <p:nvPr/>
        </p:nvSpPr>
        <p:spPr>
          <a:xfrm>
            <a:off x="840700" y="2571155"/>
            <a:ext cx="7534989" cy="1537335"/>
          </a:xfrm>
          <a:prstGeom prst="rect">
            <a:avLst/>
          </a:prstGeom>
          <a:noFill/>
          <a:ln/>
        </p:spPr>
        <p:txBody>
          <a:bodyPr wrap="square" lIns="0" tIns="0" rIns="0" bIns="0" rtlCol="0" anchor="t"/>
          <a:lstStyle/>
          <a:p>
            <a:pPr marL="0" indent="0" algn="l">
              <a:lnSpc>
                <a:spcPts val="3000"/>
              </a:lnSpc>
              <a:buNone/>
            </a:pPr>
            <a:r>
              <a:rPr lang="en-US" sz="1850" dirty="0">
                <a:solidFill>
                  <a:srgbClr val="D7D4CC"/>
                </a:solidFill>
                <a:latin typeface="Raleway Medium" pitchFamily="34" charset="0"/>
                <a:ea typeface="Raleway Medium" pitchFamily="34" charset="-122"/>
                <a:cs typeface="Raleway Medium" pitchFamily="34" charset="-120"/>
              </a:rPr>
              <a:t>MFCCs are the cornerstone of speech emotion recognition, adept at capturing the unique timbral qualities of a voice. They closely mimic how the human ear processes sound, making them highly effective for extracting emotional cues from speech.</a:t>
            </a:r>
            <a:endParaRPr lang="en-US" sz="1850" dirty="0"/>
          </a:p>
        </p:txBody>
      </p:sp>
      <p:sp>
        <p:nvSpPr>
          <p:cNvPr id="4" name="Text 2"/>
          <p:cNvSpPr/>
          <p:nvPr/>
        </p:nvSpPr>
        <p:spPr>
          <a:xfrm>
            <a:off x="840700" y="4324588"/>
            <a:ext cx="7534989" cy="76866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D7D4CC"/>
                </a:solidFill>
                <a:latin typeface="Raleway Medium" pitchFamily="34" charset="0"/>
                <a:ea typeface="Raleway Medium" pitchFamily="34" charset="-122"/>
                <a:cs typeface="Raleway Medium" pitchFamily="34" charset="-120"/>
              </a:rPr>
              <a:t>They summarize the short-term power spectrum of sound, distilling complex audio into manageable features.</a:t>
            </a:r>
            <a:endParaRPr lang="en-US" sz="1850" dirty="0"/>
          </a:p>
        </p:txBody>
      </p:sp>
      <p:sp>
        <p:nvSpPr>
          <p:cNvPr id="5" name="Text 3"/>
          <p:cNvSpPr/>
          <p:nvPr/>
        </p:nvSpPr>
        <p:spPr>
          <a:xfrm>
            <a:off x="840700" y="5177314"/>
            <a:ext cx="7534989" cy="768668"/>
          </a:xfrm>
          <a:prstGeom prst="rect">
            <a:avLst/>
          </a:prstGeom>
          <a:noFill/>
          <a:ln/>
        </p:spPr>
        <p:txBody>
          <a:bodyPr wrap="square" lIns="0" tIns="0" rIns="0" bIns="0" rtlCol="0" anchor="t"/>
          <a:lstStyle/>
          <a:p>
            <a:pPr marL="342900" indent="-342900" algn="l">
              <a:lnSpc>
                <a:spcPts val="3000"/>
              </a:lnSpc>
              <a:buSzPct val="100000"/>
              <a:buChar char="•"/>
            </a:pPr>
            <a:r>
              <a:rPr lang="en-US" sz="1850" dirty="0">
                <a:solidFill>
                  <a:srgbClr val="D7D4CC"/>
                </a:solidFill>
                <a:latin typeface="Raleway Medium" pitchFamily="34" charset="0"/>
                <a:ea typeface="Raleway Medium" pitchFamily="34" charset="-122"/>
                <a:cs typeface="Raleway Medium" pitchFamily="34" charset="-120"/>
              </a:rPr>
              <a:t>Their robustness makes them a widely adopted feature extraction method in the field.</a:t>
            </a:r>
            <a:endParaRPr lang="en-US" sz="1850" dirty="0"/>
          </a:p>
        </p:txBody>
      </p:sp>
      <p:sp>
        <p:nvSpPr>
          <p:cNvPr id="6" name="Text 4"/>
          <p:cNvSpPr/>
          <p:nvPr/>
        </p:nvSpPr>
        <p:spPr>
          <a:xfrm>
            <a:off x="840700" y="6030039"/>
            <a:ext cx="7534989" cy="384334"/>
          </a:xfrm>
          <a:prstGeom prst="rect">
            <a:avLst/>
          </a:prstGeom>
          <a:noFill/>
          <a:ln/>
        </p:spPr>
        <p:txBody>
          <a:bodyPr wrap="none" lIns="0" tIns="0" rIns="0" bIns="0" rtlCol="0" anchor="t"/>
          <a:lstStyle/>
          <a:p>
            <a:pPr marL="342900" indent="-342900" algn="l">
              <a:lnSpc>
                <a:spcPts val="3000"/>
              </a:lnSpc>
              <a:buSzPct val="100000"/>
              <a:buChar char="•"/>
            </a:pPr>
            <a:r>
              <a:rPr lang="en-US" sz="1850" dirty="0">
                <a:solidFill>
                  <a:srgbClr val="D7D4CC"/>
                </a:solidFill>
                <a:latin typeface="Raleway Medium" pitchFamily="34" charset="0"/>
                <a:ea typeface="Raleway Medium" pitchFamily="34" charset="-122"/>
                <a:cs typeface="Raleway Medium" pitchFamily="34" charset="-120"/>
              </a:rPr>
              <a:t>Think of MFCCs as the "fingerprint" of a spoken emotion.</a:t>
            </a:r>
            <a:endParaRPr lang="en-US" sz="1850" dirty="0"/>
          </a:p>
        </p:txBody>
      </p:sp>
      <p:pic>
        <p:nvPicPr>
          <p:cNvPr id="7" name="Image 0" descr="preencoded.png"/>
          <p:cNvPicPr>
            <a:picLocks noChangeAspect="1"/>
          </p:cNvPicPr>
          <p:nvPr/>
        </p:nvPicPr>
        <p:blipFill>
          <a:blip r:embed="rId3"/>
          <a:stretch>
            <a:fillRect/>
          </a:stretch>
        </p:blipFill>
        <p:spPr>
          <a:xfrm>
            <a:off x="8969334" y="2625208"/>
            <a:ext cx="5661065" cy="560439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E91A50D-147A-4E49-BD71-BEAEBE69C328}"/>
              </a:ext>
            </a:extLst>
          </p:cNvPr>
          <p:cNvPicPr>
            <a:picLocks noChangeAspect="1"/>
          </p:cNvPicPr>
          <p:nvPr/>
        </p:nvPicPr>
        <p:blipFill>
          <a:blip r:embed="rId2"/>
          <a:stretch>
            <a:fillRect/>
          </a:stretch>
        </p:blipFill>
        <p:spPr>
          <a:xfrm>
            <a:off x="10655300" y="0"/>
            <a:ext cx="4025900" cy="8229600"/>
          </a:xfrm>
          <a:prstGeom prst="rect">
            <a:avLst/>
          </a:prstGeom>
        </p:spPr>
      </p:pic>
      <p:sp>
        <p:nvSpPr>
          <p:cNvPr id="3" name="Text 0">
            <a:extLst>
              <a:ext uri="{FF2B5EF4-FFF2-40B4-BE49-F238E27FC236}">
                <a16:creationId xmlns:a16="http://schemas.microsoft.com/office/drawing/2014/main" id="{F476F94E-58F8-4EAA-BE00-CC2979DB0DEF}"/>
              </a:ext>
            </a:extLst>
          </p:cNvPr>
          <p:cNvSpPr/>
          <p:nvPr/>
        </p:nvSpPr>
        <p:spPr>
          <a:xfrm>
            <a:off x="634603" y="642104"/>
            <a:ext cx="7874794" cy="1007269"/>
          </a:xfrm>
          <a:prstGeom prst="rect">
            <a:avLst/>
          </a:prstGeom>
          <a:noFill/>
          <a:ln/>
        </p:spPr>
        <p:txBody>
          <a:bodyPr wrap="square" lIns="0" tIns="0" rIns="0" bIns="0" rtlCol="0" anchor="t"/>
          <a:lstStyle/>
          <a:p>
            <a:pPr marL="0" indent="0" algn="l">
              <a:lnSpc>
                <a:spcPts val="3950"/>
              </a:lnSpc>
              <a:buNone/>
            </a:pPr>
            <a:r>
              <a:rPr lang="en-US" sz="3150" b="1" dirty="0">
                <a:solidFill>
                  <a:srgbClr val="FFE14D"/>
                </a:solidFill>
                <a:latin typeface="Comfortaa Bold" pitchFamily="34" charset="0"/>
                <a:ea typeface="Comfortaa Bold" pitchFamily="34" charset="-122"/>
              </a:rPr>
              <a:t>MFCC Steps:</a:t>
            </a:r>
            <a:endParaRPr lang="en-US" sz="3150" dirty="0"/>
          </a:p>
        </p:txBody>
      </p:sp>
      <p:sp>
        <p:nvSpPr>
          <p:cNvPr id="4" name="Text 1">
            <a:extLst>
              <a:ext uri="{FF2B5EF4-FFF2-40B4-BE49-F238E27FC236}">
                <a16:creationId xmlns:a16="http://schemas.microsoft.com/office/drawing/2014/main" id="{98D43097-E362-4368-BC1E-BD2E1164B007}"/>
              </a:ext>
            </a:extLst>
          </p:cNvPr>
          <p:cNvSpPr/>
          <p:nvPr/>
        </p:nvSpPr>
        <p:spPr>
          <a:xfrm>
            <a:off x="634603" y="1921312"/>
            <a:ext cx="181332" cy="226576"/>
          </a:xfrm>
          <a:prstGeom prst="rect">
            <a:avLst/>
          </a:prstGeom>
          <a:noFill/>
          <a:ln/>
        </p:spPr>
        <p:txBody>
          <a:bodyPr wrap="none" lIns="0" tIns="0" rIns="0" bIns="0" rtlCol="0" anchor="t"/>
          <a:lstStyle/>
          <a:p>
            <a:pPr marL="0" indent="0" algn="l">
              <a:lnSpc>
                <a:spcPts val="2250"/>
              </a:lnSpc>
              <a:buNone/>
            </a:pPr>
            <a:endParaRPr lang="en-US" sz="3200" b="1" dirty="0">
              <a:solidFill>
                <a:srgbClr val="FFFF00"/>
              </a:solidFill>
            </a:endParaRPr>
          </a:p>
        </p:txBody>
      </p:sp>
      <p:sp>
        <p:nvSpPr>
          <p:cNvPr id="5" name="Shape 2">
            <a:extLst>
              <a:ext uri="{FF2B5EF4-FFF2-40B4-BE49-F238E27FC236}">
                <a16:creationId xmlns:a16="http://schemas.microsoft.com/office/drawing/2014/main" id="{FBFDBB32-3837-4A36-946A-245C0A5975A7}"/>
              </a:ext>
            </a:extLst>
          </p:cNvPr>
          <p:cNvSpPr/>
          <p:nvPr/>
        </p:nvSpPr>
        <p:spPr>
          <a:xfrm>
            <a:off x="0" y="1533365"/>
            <a:ext cx="10655299" cy="45719"/>
          </a:xfrm>
          <a:prstGeom prst="rect">
            <a:avLst/>
          </a:prstGeom>
          <a:solidFill>
            <a:srgbClr val="FFE14D"/>
          </a:solidFill>
          <a:ln/>
        </p:spPr>
      </p:sp>
      <p:sp>
        <p:nvSpPr>
          <p:cNvPr id="6" name="Text 3">
            <a:extLst>
              <a:ext uri="{FF2B5EF4-FFF2-40B4-BE49-F238E27FC236}">
                <a16:creationId xmlns:a16="http://schemas.microsoft.com/office/drawing/2014/main" id="{5830090B-1680-47BE-8C6F-7528CF7AB05B}"/>
              </a:ext>
            </a:extLst>
          </p:cNvPr>
          <p:cNvSpPr/>
          <p:nvPr/>
        </p:nvSpPr>
        <p:spPr>
          <a:xfrm>
            <a:off x="634603" y="2342793"/>
            <a:ext cx="2014776" cy="251817"/>
          </a:xfrm>
          <a:prstGeom prst="rect">
            <a:avLst/>
          </a:prstGeom>
          <a:noFill/>
          <a:ln/>
        </p:spPr>
        <p:txBody>
          <a:bodyPr wrap="none" lIns="0" tIns="0" rIns="0" bIns="0" rtlCol="0" anchor="t"/>
          <a:lstStyle/>
          <a:p>
            <a:pPr marL="0" indent="0" algn="l">
              <a:lnSpc>
                <a:spcPts val="1950"/>
              </a:lnSpc>
              <a:buNone/>
            </a:pPr>
            <a:r>
              <a:rPr lang="en-US" sz="2000" b="1" dirty="0">
                <a:solidFill>
                  <a:srgbClr val="D7D4CC"/>
                </a:solidFill>
                <a:latin typeface="Comfortaa Bold" pitchFamily="34" charset="0"/>
                <a:ea typeface="Comfortaa Bold" pitchFamily="34" charset="-122"/>
                <a:cs typeface="Comfortaa Bold" pitchFamily="34" charset="-120"/>
              </a:rPr>
              <a:t>1)SOUND</a:t>
            </a:r>
          </a:p>
          <a:p>
            <a:pPr marL="0" indent="0" algn="l">
              <a:lnSpc>
                <a:spcPts val="1950"/>
              </a:lnSpc>
              <a:buNone/>
            </a:pPr>
            <a:r>
              <a:rPr lang="en-US" sz="2000" b="1" dirty="0">
                <a:solidFill>
                  <a:srgbClr val="D7D4CC"/>
                </a:solidFill>
                <a:latin typeface="Comfortaa Bold" pitchFamily="34" charset="0"/>
                <a:ea typeface="Comfortaa Bold" pitchFamily="34" charset="-122"/>
                <a:cs typeface="Comfortaa Bold" pitchFamily="34" charset="-120"/>
              </a:rPr>
              <a:t>2)MFCSS</a:t>
            </a:r>
          </a:p>
          <a:p>
            <a:pPr marL="0" indent="0" algn="l">
              <a:lnSpc>
                <a:spcPts val="1950"/>
              </a:lnSpc>
              <a:buNone/>
            </a:pPr>
            <a:r>
              <a:rPr lang="en-US" sz="2000" b="1" dirty="0">
                <a:solidFill>
                  <a:srgbClr val="D7D4CC"/>
                </a:solidFill>
                <a:latin typeface="Comfortaa Bold" pitchFamily="34" charset="0"/>
                <a:ea typeface="Comfortaa Bold" pitchFamily="34" charset="-122"/>
                <a:cs typeface="Comfortaa Bold" pitchFamily="34" charset="-120"/>
              </a:rPr>
              <a:t>3)1D CNN</a:t>
            </a:r>
          </a:p>
          <a:p>
            <a:pPr marL="0" indent="0" algn="l">
              <a:lnSpc>
                <a:spcPts val="1950"/>
              </a:lnSpc>
              <a:buNone/>
            </a:pPr>
            <a:r>
              <a:rPr lang="en-US" sz="2000" b="1" dirty="0">
                <a:solidFill>
                  <a:srgbClr val="D7D4CC"/>
                </a:solidFill>
                <a:latin typeface="Comfortaa Bold" pitchFamily="34" charset="0"/>
                <a:ea typeface="Comfortaa Bold" pitchFamily="34" charset="-122"/>
                <a:cs typeface="Comfortaa Bold" pitchFamily="34" charset="-120"/>
              </a:rPr>
              <a:t>4)</a:t>
            </a:r>
            <a:r>
              <a:rPr lang="en-US" sz="2000" b="1" dirty="0" err="1">
                <a:solidFill>
                  <a:srgbClr val="D7D4CC"/>
                </a:solidFill>
                <a:latin typeface="Comfortaa Bold" pitchFamily="34" charset="0"/>
                <a:ea typeface="Comfortaa Bold" pitchFamily="34" charset="-122"/>
                <a:cs typeface="Comfortaa Bold" pitchFamily="34" charset="-120"/>
              </a:rPr>
              <a:t>Softmax</a:t>
            </a:r>
            <a:endParaRPr lang="en-US" sz="2000" b="1" dirty="0">
              <a:solidFill>
                <a:srgbClr val="D7D4CC"/>
              </a:solidFill>
              <a:latin typeface="Comfortaa Bold" pitchFamily="34" charset="0"/>
              <a:ea typeface="Comfortaa Bold" pitchFamily="34" charset="-122"/>
              <a:cs typeface="Comfortaa Bold" pitchFamily="34" charset="-120"/>
            </a:endParaRPr>
          </a:p>
          <a:p>
            <a:pPr marL="0" indent="0" algn="l">
              <a:lnSpc>
                <a:spcPts val="1950"/>
              </a:lnSpc>
              <a:buNone/>
            </a:pPr>
            <a:endParaRPr lang="en-US" sz="2000" dirty="0"/>
          </a:p>
        </p:txBody>
      </p:sp>
      <p:sp>
        <p:nvSpPr>
          <p:cNvPr id="7" name="Text 4">
            <a:extLst>
              <a:ext uri="{FF2B5EF4-FFF2-40B4-BE49-F238E27FC236}">
                <a16:creationId xmlns:a16="http://schemas.microsoft.com/office/drawing/2014/main" id="{110D88E5-452B-4B69-A885-D0E61F484DBA}"/>
              </a:ext>
            </a:extLst>
          </p:cNvPr>
          <p:cNvSpPr/>
          <p:nvPr/>
        </p:nvSpPr>
        <p:spPr>
          <a:xfrm>
            <a:off x="634603" y="2703314"/>
            <a:ext cx="7874794" cy="290036"/>
          </a:xfrm>
          <a:prstGeom prst="rect">
            <a:avLst/>
          </a:prstGeom>
          <a:noFill/>
          <a:ln/>
        </p:spPr>
        <p:txBody>
          <a:bodyPr wrap="none" lIns="0" tIns="0" rIns="0" bIns="0" rtlCol="0" anchor="t"/>
          <a:lstStyle/>
          <a:p>
            <a:pPr marL="0" indent="0" algn="l">
              <a:lnSpc>
                <a:spcPts val="2250"/>
              </a:lnSpc>
              <a:buNone/>
            </a:pPr>
            <a:endParaRPr lang="en-US" sz="1400" dirty="0"/>
          </a:p>
        </p:txBody>
      </p:sp>
      <p:sp>
        <p:nvSpPr>
          <p:cNvPr id="9" name="Shape 6">
            <a:extLst>
              <a:ext uri="{FF2B5EF4-FFF2-40B4-BE49-F238E27FC236}">
                <a16:creationId xmlns:a16="http://schemas.microsoft.com/office/drawing/2014/main" id="{56B9744B-17A0-4EE1-8B53-1E2F4520CDB5}"/>
              </a:ext>
            </a:extLst>
          </p:cNvPr>
          <p:cNvSpPr/>
          <p:nvPr/>
        </p:nvSpPr>
        <p:spPr>
          <a:xfrm>
            <a:off x="0" y="3572948"/>
            <a:ext cx="10655300" cy="45719"/>
          </a:xfrm>
          <a:prstGeom prst="rect">
            <a:avLst/>
          </a:prstGeom>
          <a:solidFill>
            <a:srgbClr val="FFE14D"/>
          </a:solidFill>
          <a:ln/>
        </p:spPr>
      </p:sp>
      <p:sp>
        <p:nvSpPr>
          <p:cNvPr id="10" name="Text 7">
            <a:extLst>
              <a:ext uri="{FF2B5EF4-FFF2-40B4-BE49-F238E27FC236}">
                <a16:creationId xmlns:a16="http://schemas.microsoft.com/office/drawing/2014/main" id="{AF80880F-4BDF-4BB9-8C55-BE0D96983696}"/>
              </a:ext>
            </a:extLst>
          </p:cNvPr>
          <p:cNvSpPr/>
          <p:nvPr/>
        </p:nvSpPr>
        <p:spPr>
          <a:xfrm>
            <a:off x="634603" y="3732133"/>
            <a:ext cx="2143720" cy="251817"/>
          </a:xfrm>
          <a:prstGeom prst="rect">
            <a:avLst/>
          </a:prstGeom>
          <a:noFill/>
          <a:ln/>
        </p:spPr>
        <p:txBody>
          <a:bodyPr wrap="none" lIns="0" tIns="0" rIns="0" bIns="0" rtlCol="0" anchor="t"/>
          <a:lstStyle/>
          <a:p>
            <a:pPr marL="342900" indent="-342900" algn="l">
              <a:lnSpc>
                <a:spcPts val="1950"/>
              </a:lnSpc>
              <a:buAutoNum type="arabicParenR"/>
            </a:pPr>
            <a:r>
              <a:rPr lang="en-US" sz="2000" b="1" dirty="0">
                <a:solidFill>
                  <a:srgbClr val="FFFF00"/>
                </a:solidFill>
              </a:rPr>
              <a:t>Raw Audio: Computer Cant understand due to background noise, volume difference </a:t>
            </a:r>
            <a:r>
              <a:rPr lang="en-US" sz="2000" b="1" dirty="0" err="1">
                <a:solidFill>
                  <a:srgbClr val="FFFF00"/>
                </a:solidFill>
              </a:rPr>
              <a:t>etc</a:t>
            </a:r>
            <a:endParaRPr lang="en-US" sz="2000" b="1" dirty="0">
              <a:solidFill>
                <a:srgbClr val="FFFF00"/>
              </a:solidFill>
            </a:endParaRPr>
          </a:p>
          <a:p>
            <a:pPr marL="342900" indent="-342900" algn="l">
              <a:lnSpc>
                <a:spcPts val="1950"/>
              </a:lnSpc>
              <a:buAutoNum type="arabicParenR"/>
            </a:pPr>
            <a:endParaRPr lang="en-US" sz="2000" b="1" dirty="0">
              <a:solidFill>
                <a:srgbClr val="FFFF00"/>
              </a:solidFill>
            </a:endParaRPr>
          </a:p>
          <a:p>
            <a:pPr algn="l">
              <a:lnSpc>
                <a:spcPts val="1950"/>
              </a:lnSpc>
            </a:pPr>
            <a:endParaRPr lang="en-US" sz="2000" b="1" dirty="0">
              <a:solidFill>
                <a:srgbClr val="FFFF00"/>
              </a:solidFill>
            </a:endParaRPr>
          </a:p>
          <a:p>
            <a:pPr marL="342900" indent="-342900" algn="l">
              <a:lnSpc>
                <a:spcPts val="1950"/>
              </a:lnSpc>
              <a:buAutoNum type="arabicParenR"/>
            </a:pPr>
            <a:r>
              <a:rPr lang="en-US" sz="2000" b="1" dirty="0">
                <a:solidFill>
                  <a:srgbClr val="FFFF00"/>
                </a:solidFill>
              </a:rPr>
              <a:t>MEL: Tells computer to pay close attention to </a:t>
            </a:r>
            <a:r>
              <a:rPr lang="en-US" sz="2000" b="1" dirty="0" err="1">
                <a:solidFill>
                  <a:srgbClr val="FFFF00"/>
                </a:solidFill>
              </a:rPr>
              <a:t>to</a:t>
            </a:r>
            <a:r>
              <a:rPr lang="en-US" sz="2000" b="1" dirty="0">
                <a:solidFill>
                  <a:srgbClr val="FFFF00"/>
                </a:solidFill>
              </a:rPr>
              <a:t> low </a:t>
            </a:r>
            <a:r>
              <a:rPr lang="en-US" sz="2000" b="1" dirty="0" err="1">
                <a:solidFill>
                  <a:srgbClr val="FFFF00"/>
                </a:solidFill>
              </a:rPr>
              <a:t>freq</a:t>
            </a:r>
            <a:r>
              <a:rPr lang="en-US" sz="2000" b="1" dirty="0">
                <a:solidFill>
                  <a:srgbClr val="FFFF00"/>
                </a:solidFill>
              </a:rPr>
              <a:t> and ignore content in high </a:t>
            </a:r>
            <a:r>
              <a:rPr lang="en-US" sz="2000" b="1" dirty="0" err="1">
                <a:solidFill>
                  <a:srgbClr val="FFFF00"/>
                </a:solidFill>
              </a:rPr>
              <a:t>freq</a:t>
            </a:r>
            <a:endParaRPr lang="en-US" sz="2000" b="1" dirty="0">
              <a:solidFill>
                <a:srgbClr val="FFFF00"/>
              </a:solidFill>
            </a:endParaRPr>
          </a:p>
          <a:p>
            <a:pPr marL="342900" indent="-342900" algn="l">
              <a:lnSpc>
                <a:spcPts val="1950"/>
              </a:lnSpc>
              <a:buAutoNum type="arabicParenR"/>
            </a:pPr>
            <a:endParaRPr lang="en-US" sz="2000" b="1" dirty="0">
              <a:solidFill>
                <a:srgbClr val="FFFF00"/>
              </a:solidFill>
            </a:endParaRPr>
          </a:p>
          <a:p>
            <a:pPr algn="l">
              <a:lnSpc>
                <a:spcPts val="1950"/>
              </a:lnSpc>
            </a:pPr>
            <a:endParaRPr lang="en-US" sz="2000" b="1" dirty="0">
              <a:solidFill>
                <a:srgbClr val="FFFF00"/>
              </a:solidFill>
            </a:endParaRPr>
          </a:p>
          <a:p>
            <a:pPr marL="342900" indent="-342900" algn="l">
              <a:lnSpc>
                <a:spcPts val="1950"/>
              </a:lnSpc>
              <a:buAutoNum type="arabicParenR"/>
            </a:pPr>
            <a:r>
              <a:rPr lang="en-US" sz="2000" b="1" dirty="0">
                <a:solidFill>
                  <a:srgbClr val="FFFF00"/>
                </a:solidFill>
              </a:rPr>
              <a:t>A) Framing: Long audio 20 to 40 </a:t>
            </a:r>
            <a:r>
              <a:rPr lang="en-US" sz="2000" b="1" dirty="0" err="1">
                <a:solidFill>
                  <a:srgbClr val="FFFF00"/>
                </a:solidFill>
              </a:rPr>
              <a:t>ms</a:t>
            </a:r>
            <a:r>
              <a:rPr lang="en-US" sz="2000" b="1" dirty="0">
                <a:solidFill>
                  <a:srgbClr val="FFFF00"/>
                </a:solidFill>
              </a:rPr>
              <a:t> slice. Constant change in voice so analyze </a:t>
            </a:r>
            <a:r>
              <a:rPr lang="en-US" sz="2000" b="1" dirty="0" err="1">
                <a:solidFill>
                  <a:srgbClr val="FFFF00"/>
                </a:solidFill>
              </a:rPr>
              <a:t>ms</a:t>
            </a:r>
            <a:r>
              <a:rPr lang="en-US" sz="2000" b="1" dirty="0">
                <a:solidFill>
                  <a:srgbClr val="FFFF00"/>
                </a:solidFill>
              </a:rPr>
              <a:t> by </a:t>
            </a:r>
            <a:r>
              <a:rPr lang="en-US" sz="2000" b="1" dirty="0" err="1">
                <a:solidFill>
                  <a:srgbClr val="FFFF00"/>
                </a:solidFill>
              </a:rPr>
              <a:t>ms</a:t>
            </a:r>
            <a:endParaRPr lang="en-US" sz="2000" b="1" dirty="0">
              <a:solidFill>
                <a:srgbClr val="FFFF00"/>
              </a:solidFill>
            </a:endParaRPr>
          </a:p>
          <a:p>
            <a:pPr algn="l">
              <a:lnSpc>
                <a:spcPts val="1950"/>
              </a:lnSpc>
            </a:pPr>
            <a:r>
              <a:rPr lang="en-US" sz="2000" b="1" dirty="0">
                <a:solidFill>
                  <a:srgbClr val="FFFF00"/>
                </a:solidFill>
              </a:rPr>
              <a:t>       B) Windowing: Smooth Edges of slice by applying math function</a:t>
            </a:r>
          </a:p>
          <a:p>
            <a:pPr algn="l">
              <a:lnSpc>
                <a:spcPts val="1950"/>
              </a:lnSpc>
            </a:pPr>
            <a:r>
              <a:rPr lang="en-US" sz="2000" b="1" dirty="0">
                <a:solidFill>
                  <a:srgbClr val="FFFF00"/>
                </a:solidFill>
              </a:rPr>
              <a:t>       C) FFT: Transform sound wave into list of frequency ( Low med High)</a:t>
            </a:r>
          </a:p>
          <a:p>
            <a:pPr algn="l">
              <a:lnSpc>
                <a:spcPts val="1950"/>
              </a:lnSpc>
            </a:pPr>
            <a:r>
              <a:rPr lang="en-US" sz="2000" b="1" dirty="0">
                <a:solidFill>
                  <a:srgbClr val="FFFF00"/>
                </a:solidFill>
              </a:rPr>
              <a:t>       D) MEL Filter Bank: Ignore </a:t>
            </a:r>
            <a:r>
              <a:rPr lang="en-US" sz="2000" b="1" dirty="0" err="1">
                <a:solidFill>
                  <a:srgbClr val="FFFF00"/>
                </a:solidFill>
              </a:rPr>
              <a:t>Frequncy</a:t>
            </a:r>
            <a:r>
              <a:rPr lang="en-US" sz="2000" b="1" dirty="0">
                <a:solidFill>
                  <a:srgbClr val="FFFF00"/>
                </a:solidFill>
              </a:rPr>
              <a:t> By </a:t>
            </a:r>
            <a:r>
              <a:rPr lang="en-US" sz="2000" b="1" dirty="0" err="1">
                <a:solidFill>
                  <a:srgbClr val="FFFF00"/>
                </a:solidFill>
              </a:rPr>
              <a:t>mel</a:t>
            </a:r>
            <a:r>
              <a:rPr lang="en-US" sz="2000" b="1" dirty="0">
                <a:solidFill>
                  <a:srgbClr val="FFFF00"/>
                </a:solidFill>
              </a:rPr>
              <a:t> scale</a:t>
            </a:r>
          </a:p>
          <a:p>
            <a:pPr algn="l">
              <a:lnSpc>
                <a:spcPts val="1950"/>
              </a:lnSpc>
            </a:pPr>
            <a:r>
              <a:rPr lang="en-US" sz="2000" b="1" dirty="0">
                <a:solidFill>
                  <a:srgbClr val="FFFF00"/>
                </a:solidFill>
              </a:rPr>
              <a:t>       E) </a:t>
            </a:r>
            <a:r>
              <a:rPr lang="en-US" sz="2000" b="1" dirty="0" err="1">
                <a:solidFill>
                  <a:srgbClr val="FFFF00"/>
                </a:solidFill>
              </a:rPr>
              <a:t>Logrithmm</a:t>
            </a:r>
            <a:r>
              <a:rPr lang="en-US" sz="2000" b="1" dirty="0">
                <a:solidFill>
                  <a:srgbClr val="FFFF00"/>
                </a:solidFill>
              </a:rPr>
              <a:t>: human hear volume logarithmically so take log of data to match perception</a:t>
            </a:r>
          </a:p>
          <a:p>
            <a:pPr algn="l">
              <a:lnSpc>
                <a:spcPts val="1950"/>
              </a:lnSpc>
            </a:pPr>
            <a:r>
              <a:rPr lang="en-US" sz="2000" b="1" dirty="0">
                <a:solidFill>
                  <a:srgbClr val="FFFF00"/>
                </a:solidFill>
              </a:rPr>
              <a:t>       F) Discrete cosine transform compress data and remove correlated information  </a:t>
            </a:r>
          </a:p>
        </p:txBody>
      </p:sp>
      <p:sp>
        <p:nvSpPr>
          <p:cNvPr id="11" name="Text 8">
            <a:extLst>
              <a:ext uri="{FF2B5EF4-FFF2-40B4-BE49-F238E27FC236}">
                <a16:creationId xmlns:a16="http://schemas.microsoft.com/office/drawing/2014/main" id="{44C03109-31B1-45F0-8B9A-7188C3E550FB}"/>
              </a:ext>
            </a:extLst>
          </p:cNvPr>
          <p:cNvSpPr/>
          <p:nvPr/>
        </p:nvSpPr>
        <p:spPr>
          <a:xfrm>
            <a:off x="634603" y="4092654"/>
            <a:ext cx="7874794" cy="290036"/>
          </a:xfrm>
          <a:prstGeom prst="rect">
            <a:avLst/>
          </a:prstGeom>
          <a:noFill/>
          <a:ln/>
        </p:spPr>
        <p:txBody>
          <a:bodyPr wrap="none" lIns="0" tIns="0" rIns="0" bIns="0" rtlCol="0" anchor="t"/>
          <a:lstStyle/>
          <a:p>
            <a:pPr marL="0" indent="0" algn="l">
              <a:lnSpc>
                <a:spcPts val="2250"/>
              </a:lnSpc>
              <a:buNone/>
            </a:pPr>
            <a:endParaRPr lang="en-US" sz="1400" dirty="0"/>
          </a:p>
        </p:txBody>
      </p:sp>
      <p:sp>
        <p:nvSpPr>
          <p:cNvPr id="19" name="Text 16">
            <a:extLst>
              <a:ext uri="{FF2B5EF4-FFF2-40B4-BE49-F238E27FC236}">
                <a16:creationId xmlns:a16="http://schemas.microsoft.com/office/drawing/2014/main" id="{6EE1936E-3B38-425C-B6C6-0255A69114D3}"/>
              </a:ext>
            </a:extLst>
          </p:cNvPr>
          <p:cNvSpPr/>
          <p:nvPr/>
        </p:nvSpPr>
        <p:spPr>
          <a:xfrm>
            <a:off x="634603" y="6858635"/>
            <a:ext cx="7874794" cy="580073"/>
          </a:xfrm>
          <a:prstGeom prst="rect">
            <a:avLst/>
          </a:prstGeom>
          <a:noFill/>
          <a:ln/>
        </p:spPr>
        <p:txBody>
          <a:bodyPr wrap="square" lIns="0" tIns="0" rIns="0" bIns="0" rtlCol="0" anchor="t"/>
          <a:lstStyle/>
          <a:p>
            <a:pPr marL="0" indent="0" algn="l">
              <a:lnSpc>
                <a:spcPts val="2250"/>
              </a:lnSpc>
              <a:buNone/>
            </a:pPr>
            <a:endParaRPr lang="en-US" sz="1400" dirty="0"/>
          </a:p>
        </p:txBody>
      </p:sp>
    </p:spTree>
    <p:extLst>
      <p:ext uri="{BB962C8B-B14F-4D97-AF65-F5344CB8AC3E}">
        <p14:creationId xmlns:p14="http://schemas.microsoft.com/office/powerpoint/2010/main" val="1949385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AF245-8EB4-9C0F-5F2B-D56301344C4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B6C3358-7B5D-4151-22CC-DB185287CFF4}"/>
              </a:ext>
            </a:extLst>
          </p:cNvPr>
          <p:cNvSpPr/>
          <p:nvPr/>
        </p:nvSpPr>
        <p:spPr>
          <a:xfrm>
            <a:off x="840700" y="660559"/>
            <a:ext cx="12948999" cy="1334214"/>
          </a:xfrm>
          <a:prstGeom prst="rect">
            <a:avLst/>
          </a:prstGeom>
          <a:noFill/>
          <a:ln/>
        </p:spPr>
        <p:txBody>
          <a:bodyPr wrap="square" lIns="0" tIns="0" rIns="0" bIns="0" rtlCol="0" anchor="t"/>
          <a:lstStyle/>
          <a:p>
            <a:pPr>
              <a:lnSpc>
                <a:spcPts val="5250"/>
              </a:lnSpc>
            </a:pPr>
            <a:r>
              <a:rPr lang="en-US" sz="4400" dirty="0">
                <a:solidFill>
                  <a:srgbClr val="FFFF00"/>
                </a:solidFill>
                <a:latin typeface="Comfortaa Bold"/>
              </a:rPr>
              <a:t>Feature Normalization and Standardization</a:t>
            </a:r>
            <a:endParaRPr lang="en-US" sz="4200" dirty="0">
              <a:solidFill>
                <a:srgbClr val="FFFF00"/>
              </a:solidFill>
              <a:latin typeface="Comfortaa Bold"/>
            </a:endParaRPr>
          </a:p>
        </p:txBody>
      </p:sp>
      <p:sp>
        <p:nvSpPr>
          <p:cNvPr id="3" name="Text 1">
            <a:extLst>
              <a:ext uri="{FF2B5EF4-FFF2-40B4-BE49-F238E27FC236}">
                <a16:creationId xmlns:a16="http://schemas.microsoft.com/office/drawing/2014/main" id="{F38748A9-6A19-FAB9-2924-0111186C0050}"/>
              </a:ext>
            </a:extLst>
          </p:cNvPr>
          <p:cNvSpPr/>
          <p:nvPr/>
        </p:nvSpPr>
        <p:spPr>
          <a:xfrm>
            <a:off x="840698" y="2391013"/>
            <a:ext cx="7534989" cy="1537335"/>
          </a:xfrm>
          <a:prstGeom prst="rect">
            <a:avLst/>
          </a:prstGeom>
          <a:noFill/>
          <a:ln/>
        </p:spPr>
        <p:txBody>
          <a:bodyPr wrap="square" lIns="0" tIns="0" rIns="0" bIns="0" rtlCol="0" anchor="t"/>
          <a:lstStyle/>
          <a:p>
            <a:pPr>
              <a:lnSpc>
                <a:spcPts val="3000"/>
              </a:lnSpc>
            </a:pPr>
            <a:r>
              <a:rPr lang="en-US" sz="2000" dirty="0">
                <a:solidFill>
                  <a:schemeClr val="bg2">
                    <a:lumMod val="75000"/>
                  </a:schemeClr>
                </a:solidFill>
              </a:rPr>
              <a:t>When we train deep learning models on audio, the model expects every input to be the same length. But real audio clips don’t behave they come in all shapes and sizes. So we guide them into shape using two simple tricks:</a:t>
            </a:r>
            <a:endParaRPr lang="en-US" sz="1850" dirty="0">
              <a:solidFill>
                <a:schemeClr val="bg2">
                  <a:lumMod val="75000"/>
                </a:schemeClr>
              </a:solidFill>
            </a:endParaRPr>
          </a:p>
        </p:txBody>
      </p:sp>
      <p:sp>
        <p:nvSpPr>
          <p:cNvPr id="4" name="Text 2">
            <a:extLst>
              <a:ext uri="{FF2B5EF4-FFF2-40B4-BE49-F238E27FC236}">
                <a16:creationId xmlns:a16="http://schemas.microsoft.com/office/drawing/2014/main" id="{7B2D624B-5D48-A765-72C6-AB18B348B4B4}"/>
              </a:ext>
            </a:extLst>
          </p:cNvPr>
          <p:cNvSpPr/>
          <p:nvPr/>
        </p:nvSpPr>
        <p:spPr>
          <a:xfrm>
            <a:off x="840700" y="4120157"/>
            <a:ext cx="7534989" cy="1321832"/>
          </a:xfrm>
          <a:prstGeom prst="rect">
            <a:avLst/>
          </a:prstGeom>
          <a:noFill/>
          <a:ln/>
        </p:spPr>
        <p:txBody>
          <a:bodyPr wrap="square" lIns="0" tIns="0" rIns="0" bIns="0" rtlCol="0" anchor="t"/>
          <a:lstStyle/>
          <a:p>
            <a:r>
              <a:rPr lang="en-US" sz="2000" b="1" dirty="0">
                <a:solidFill>
                  <a:schemeClr val="bg2">
                    <a:lumMod val="75000"/>
                  </a:schemeClr>
                </a:solidFill>
              </a:rPr>
              <a:t>1. Fixed Length</a:t>
            </a:r>
          </a:p>
          <a:p>
            <a:r>
              <a:rPr lang="en-US" sz="2000" dirty="0">
                <a:solidFill>
                  <a:schemeClr val="bg2">
                    <a:lumMod val="75000"/>
                  </a:schemeClr>
                </a:solidFill>
              </a:rPr>
              <a:t>Our model needs every MFCC feature sequence to have exactly </a:t>
            </a:r>
            <a:r>
              <a:rPr lang="en-US" sz="2000" b="1" dirty="0">
                <a:solidFill>
                  <a:schemeClr val="bg2">
                    <a:lumMod val="75000"/>
                  </a:schemeClr>
                </a:solidFill>
              </a:rPr>
              <a:t>174 time steps</a:t>
            </a:r>
            <a:r>
              <a:rPr lang="en-US" sz="2000" dirty="0">
                <a:solidFill>
                  <a:schemeClr val="bg2">
                    <a:lumMod val="75000"/>
                  </a:schemeClr>
                </a:solidFill>
              </a:rPr>
              <a:t>. Think of it like every student turning in a paper with a strict page limit.</a:t>
            </a:r>
          </a:p>
          <a:p>
            <a:pPr marL="342900" indent="-342900" algn="l">
              <a:lnSpc>
                <a:spcPts val="3000"/>
              </a:lnSpc>
              <a:buSzPct val="100000"/>
              <a:buChar char="•"/>
            </a:pPr>
            <a:endParaRPr lang="en-US" sz="1850" dirty="0"/>
          </a:p>
        </p:txBody>
      </p:sp>
      <p:sp>
        <p:nvSpPr>
          <p:cNvPr id="5" name="Text 3">
            <a:extLst>
              <a:ext uri="{FF2B5EF4-FFF2-40B4-BE49-F238E27FC236}">
                <a16:creationId xmlns:a16="http://schemas.microsoft.com/office/drawing/2014/main" id="{D61819DF-9DFA-7A16-60C9-ADCB6057818A}"/>
              </a:ext>
            </a:extLst>
          </p:cNvPr>
          <p:cNvSpPr/>
          <p:nvPr/>
        </p:nvSpPr>
        <p:spPr>
          <a:xfrm>
            <a:off x="840697" y="5422016"/>
            <a:ext cx="7534989" cy="1745396"/>
          </a:xfrm>
          <a:prstGeom prst="rect">
            <a:avLst/>
          </a:prstGeom>
          <a:noFill/>
          <a:ln/>
        </p:spPr>
        <p:txBody>
          <a:bodyPr wrap="square" lIns="0" tIns="0" rIns="0" bIns="0" rtlCol="0" anchor="t"/>
          <a:lstStyle/>
          <a:p>
            <a:r>
              <a:rPr lang="en-US" sz="2000" b="1" dirty="0">
                <a:solidFill>
                  <a:schemeClr val="bg2">
                    <a:lumMod val="75000"/>
                  </a:schemeClr>
                </a:solidFill>
              </a:rPr>
              <a:t>2. Zero-Padding (for short audio)</a:t>
            </a:r>
          </a:p>
          <a:p>
            <a:r>
              <a:rPr lang="en-US" sz="2000" dirty="0">
                <a:solidFill>
                  <a:schemeClr val="bg2">
                    <a:lumMod val="75000"/>
                  </a:schemeClr>
                </a:solidFill>
              </a:rPr>
              <a:t>If an audio clip doesn’t have enough time steps, we </a:t>
            </a:r>
            <a:r>
              <a:rPr lang="en-US" sz="2000" b="1" dirty="0">
                <a:solidFill>
                  <a:schemeClr val="bg2">
                    <a:lumMod val="75000"/>
                  </a:schemeClr>
                </a:solidFill>
              </a:rPr>
              <a:t>add zeros at the end</a:t>
            </a:r>
            <a:r>
              <a:rPr lang="en-US" sz="2000" dirty="0">
                <a:solidFill>
                  <a:schemeClr val="bg2">
                    <a:lumMod val="75000"/>
                  </a:schemeClr>
                </a:solidFill>
              </a:rPr>
              <a:t> until it reaches 174.</a:t>
            </a:r>
            <a:br>
              <a:rPr lang="en-US" sz="2000" dirty="0">
                <a:solidFill>
                  <a:schemeClr val="bg2">
                    <a:lumMod val="75000"/>
                  </a:schemeClr>
                </a:solidFill>
              </a:rPr>
            </a:br>
            <a:r>
              <a:rPr lang="en-US" sz="2000" dirty="0">
                <a:solidFill>
                  <a:schemeClr val="bg2">
                    <a:lumMod val="75000"/>
                  </a:schemeClr>
                </a:solidFill>
              </a:rPr>
              <a:t>It’s like slipping blank pages at the back of a too-short assignment so it meets the required length—only here, it’s totally allowed.</a:t>
            </a:r>
          </a:p>
          <a:p>
            <a:pPr marL="342900" indent="-342900" algn="l">
              <a:lnSpc>
                <a:spcPts val="3000"/>
              </a:lnSpc>
              <a:buSzPct val="100000"/>
              <a:buChar char="•"/>
            </a:pPr>
            <a:endParaRPr lang="en-US" sz="1850" dirty="0"/>
          </a:p>
        </p:txBody>
      </p:sp>
      <p:sp>
        <p:nvSpPr>
          <p:cNvPr id="6" name="Text 4">
            <a:extLst>
              <a:ext uri="{FF2B5EF4-FFF2-40B4-BE49-F238E27FC236}">
                <a16:creationId xmlns:a16="http://schemas.microsoft.com/office/drawing/2014/main" id="{265C1EB6-91B6-F0E2-CCE3-7E727308CC8A}"/>
              </a:ext>
            </a:extLst>
          </p:cNvPr>
          <p:cNvSpPr/>
          <p:nvPr/>
        </p:nvSpPr>
        <p:spPr>
          <a:xfrm>
            <a:off x="840700" y="6030039"/>
            <a:ext cx="7534989" cy="384334"/>
          </a:xfrm>
          <a:prstGeom prst="rect">
            <a:avLst/>
          </a:prstGeom>
          <a:noFill/>
          <a:ln/>
        </p:spPr>
        <p:txBody>
          <a:bodyPr wrap="none" lIns="0" tIns="0" rIns="0" bIns="0" rtlCol="0" anchor="t"/>
          <a:lstStyle/>
          <a:p>
            <a:pPr marL="342900" indent="-342900" algn="l">
              <a:lnSpc>
                <a:spcPts val="3000"/>
              </a:lnSpc>
              <a:buSzPct val="100000"/>
              <a:buChar char="•"/>
            </a:pPr>
            <a:endParaRPr lang="en-US" sz="1850" dirty="0"/>
          </a:p>
        </p:txBody>
      </p:sp>
      <p:pic>
        <p:nvPicPr>
          <p:cNvPr id="7" name="Image 0" descr="preencoded.png">
            <a:extLst>
              <a:ext uri="{FF2B5EF4-FFF2-40B4-BE49-F238E27FC236}">
                <a16:creationId xmlns:a16="http://schemas.microsoft.com/office/drawing/2014/main" id="{6B8529EC-A8EF-F4BC-2656-748D63E21A5C}"/>
              </a:ext>
            </a:extLst>
          </p:cNvPr>
          <p:cNvPicPr>
            <a:picLocks noChangeAspect="1"/>
          </p:cNvPicPr>
          <p:nvPr/>
        </p:nvPicPr>
        <p:blipFill>
          <a:blip r:embed="rId3"/>
          <a:stretch>
            <a:fillRect/>
          </a:stretch>
        </p:blipFill>
        <p:spPr>
          <a:xfrm>
            <a:off x="8969334" y="2625208"/>
            <a:ext cx="5661065" cy="5604391"/>
          </a:xfrm>
          <a:prstGeom prst="rect">
            <a:avLst/>
          </a:prstGeom>
        </p:spPr>
      </p:pic>
      <p:sp>
        <p:nvSpPr>
          <p:cNvPr id="9" name="TextBox 8">
            <a:extLst>
              <a:ext uri="{FF2B5EF4-FFF2-40B4-BE49-F238E27FC236}">
                <a16:creationId xmlns:a16="http://schemas.microsoft.com/office/drawing/2014/main" id="{17F1026E-CCEE-08A4-B759-F2673F7DC34E}"/>
              </a:ext>
            </a:extLst>
          </p:cNvPr>
          <p:cNvSpPr txBox="1"/>
          <p:nvPr/>
        </p:nvSpPr>
        <p:spPr>
          <a:xfrm>
            <a:off x="840694" y="7124430"/>
            <a:ext cx="7315200" cy="646331"/>
          </a:xfrm>
          <a:prstGeom prst="rect">
            <a:avLst/>
          </a:prstGeom>
          <a:noFill/>
        </p:spPr>
        <p:txBody>
          <a:bodyPr wrap="square">
            <a:spAutoFit/>
          </a:bodyPr>
          <a:lstStyle/>
          <a:p>
            <a:pPr>
              <a:buNone/>
            </a:pPr>
            <a:r>
              <a:rPr lang="en-US" b="1" dirty="0">
                <a:solidFill>
                  <a:schemeClr val="bg2">
                    <a:lumMod val="75000"/>
                  </a:schemeClr>
                </a:solidFill>
              </a:rPr>
              <a:t>3. Truncation (for long audio)</a:t>
            </a:r>
          </a:p>
          <a:p>
            <a:pPr>
              <a:buNone/>
            </a:pPr>
            <a:r>
              <a:rPr lang="en-US" dirty="0">
                <a:solidFill>
                  <a:schemeClr val="bg2">
                    <a:lumMod val="75000"/>
                  </a:schemeClr>
                </a:solidFill>
              </a:rPr>
              <a:t>If the audio is </a:t>
            </a:r>
            <a:r>
              <a:rPr lang="en-US" i="1" dirty="0">
                <a:solidFill>
                  <a:schemeClr val="bg2">
                    <a:lumMod val="75000"/>
                  </a:schemeClr>
                </a:solidFill>
              </a:rPr>
              <a:t>too long</a:t>
            </a:r>
            <a:r>
              <a:rPr lang="en-US" dirty="0">
                <a:solidFill>
                  <a:schemeClr val="bg2">
                    <a:lumMod val="75000"/>
                  </a:schemeClr>
                </a:solidFill>
              </a:rPr>
              <a:t>, we simply cut off the extra time steps after 174</a:t>
            </a:r>
            <a:r>
              <a:rPr lang="en-US" dirty="0"/>
              <a:t>.</a:t>
            </a:r>
          </a:p>
        </p:txBody>
      </p:sp>
    </p:spTree>
    <p:extLst>
      <p:ext uri="{BB962C8B-B14F-4D97-AF65-F5344CB8AC3E}">
        <p14:creationId xmlns:p14="http://schemas.microsoft.com/office/powerpoint/2010/main" val="1768458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1876663"/>
          </a:xfrm>
          <a:prstGeom prst="rect">
            <a:avLst/>
          </a:prstGeom>
        </p:spPr>
      </p:pic>
      <p:sp>
        <p:nvSpPr>
          <p:cNvPr id="3" name="Text 0"/>
          <p:cNvSpPr/>
          <p:nvPr/>
        </p:nvSpPr>
        <p:spPr>
          <a:xfrm>
            <a:off x="525423" y="2195631"/>
            <a:ext cx="6945035" cy="416957"/>
          </a:xfrm>
          <a:prstGeom prst="rect">
            <a:avLst/>
          </a:prstGeom>
          <a:noFill/>
          <a:ln/>
        </p:spPr>
        <p:txBody>
          <a:bodyPr wrap="none" lIns="0" tIns="0" rIns="0" bIns="0" rtlCol="0" anchor="t"/>
          <a:lstStyle/>
          <a:p>
            <a:pPr marL="0" indent="0" algn="l">
              <a:lnSpc>
                <a:spcPts val="3250"/>
              </a:lnSpc>
              <a:buNone/>
            </a:pPr>
            <a:r>
              <a:rPr lang="en-US" sz="2600" b="1" dirty="0">
                <a:solidFill>
                  <a:srgbClr val="FFE14D"/>
                </a:solidFill>
                <a:latin typeface="Comfortaa Bold" pitchFamily="34" charset="0"/>
                <a:ea typeface="Comfortaa Bold" pitchFamily="34" charset="-122"/>
                <a:cs typeface="Comfortaa Bold" pitchFamily="34" charset="-120"/>
              </a:rPr>
              <a:t>Code Snippet: </a:t>
            </a:r>
            <a:endParaRPr lang="en-US" sz="2600" dirty="0"/>
          </a:p>
        </p:txBody>
      </p:sp>
      <p:sp>
        <p:nvSpPr>
          <p:cNvPr id="4" name="Text 1"/>
          <p:cNvSpPr/>
          <p:nvPr/>
        </p:nvSpPr>
        <p:spPr>
          <a:xfrm>
            <a:off x="525423" y="2931557"/>
            <a:ext cx="13579554" cy="480298"/>
          </a:xfrm>
          <a:prstGeom prst="rect">
            <a:avLst/>
          </a:prstGeom>
          <a:noFill/>
          <a:ln/>
        </p:spPr>
        <p:txBody>
          <a:bodyPr wrap="square" lIns="0" tIns="0" rIns="0" bIns="0" rtlCol="0" anchor="t"/>
          <a:lstStyle/>
          <a:p>
            <a:pPr marL="0" indent="0" algn="l">
              <a:lnSpc>
                <a:spcPts val="1850"/>
              </a:lnSpc>
              <a:buNone/>
            </a:pPr>
            <a:r>
              <a:rPr lang="en-US" sz="1150" dirty="0">
                <a:solidFill>
                  <a:srgbClr val="D7D4CC"/>
                </a:solidFill>
                <a:latin typeface="Raleway Medium" pitchFamily="34" charset="0"/>
                <a:ea typeface="Raleway Medium" pitchFamily="34" charset="-122"/>
                <a:cs typeface="Raleway Medium" pitchFamily="34" charset="-120"/>
              </a:rPr>
              <a:t>This section provides a placeholder for the Python code demonstrating Librosa's use for extracting MFCC features from an audio file. The output will showcase a visual representation of these features.</a:t>
            </a:r>
            <a:endParaRPr lang="en-US" sz="1150" dirty="0"/>
          </a:p>
        </p:txBody>
      </p:sp>
      <p:sp>
        <p:nvSpPr>
          <p:cNvPr id="5" name="Shape 2"/>
          <p:cNvSpPr/>
          <p:nvPr/>
        </p:nvSpPr>
        <p:spPr>
          <a:xfrm>
            <a:off x="525423" y="3580686"/>
            <a:ext cx="13579554" cy="3827264"/>
          </a:xfrm>
          <a:prstGeom prst="roundRect">
            <a:avLst>
              <a:gd name="adj" fmla="val 5884"/>
            </a:avLst>
          </a:prstGeom>
          <a:solidFill>
            <a:srgbClr val="343438"/>
          </a:solidFill>
          <a:ln/>
        </p:spPr>
      </p:sp>
      <p:sp>
        <p:nvSpPr>
          <p:cNvPr id="6" name="Shape 3"/>
          <p:cNvSpPr/>
          <p:nvPr/>
        </p:nvSpPr>
        <p:spPr>
          <a:xfrm>
            <a:off x="0" y="3253839"/>
            <a:ext cx="14630400" cy="4975761"/>
          </a:xfrm>
          <a:prstGeom prst="roundRect">
            <a:avLst>
              <a:gd name="adj" fmla="val 588"/>
            </a:avLst>
          </a:prstGeom>
          <a:solidFill>
            <a:srgbClr val="343438"/>
          </a:solidFill>
          <a:ln/>
        </p:spPr>
        <p:txBody>
          <a:bodyPr/>
          <a:lstStyle/>
          <a:p>
            <a:endParaRPr lang="en-US" dirty="0"/>
          </a:p>
        </p:txBody>
      </p:sp>
      <p:sp>
        <p:nvSpPr>
          <p:cNvPr id="7" name="Text 4"/>
          <p:cNvSpPr/>
          <p:nvPr/>
        </p:nvSpPr>
        <p:spPr>
          <a:xfrm>
            <a:off x="667941" y="3693200"/>
            <a:ext cx="13294519" cy="3602236"/>
          </a:xfrm>
          <a:prstGeom prst="rect">
            <a:avLst/>
          </a:prstGeom>
          <a:noFill/>
          <a:ln/>
        </p:spPr>
        <p:txBody>
          <a:bodyPr wrap="square" lIns="0" tIns="0" rIns="0" bIns="0" rtlCol="0" anchor="t"/>
          <a:lstStyle/>
          <a:p>
            <a:pPr marL="0" indent="0" algn="l">
              <a:lnSpc>
                <a:spcPts val="1850"/>
              </a:lnSpc>
              <a:buNone/>
            </a:pPr>
            <a:endParaRPr lang="en-US" sz="1150" dirty="0"/>
          </a:p>
        </p:txBody>
      </p:sp>
      <p:sp>
        <p:nvSpPr>
          <p:cNvPr id="8" name="Text 5"/>
          <p:cNvSpPr/>
          <p:nvPr/>
        </p:nvSpPr>
        <p:spPr>
          <a:xfrm>
            <a:off x="525423" y="7576780"/>
            <a:ext cx="13579554" cy="240149"/>
          </a:xfrm>
          <a:prstGeom prst="rect">
            <a:avLst/>
          </a:prstGeom>
          <a:noFill/>
          <a:ln/>
        </p:spPr>
        <p:txBody>
          <a:bodyPr wrap="none" lIns="0" tIns="0" rIns="0" bIns="0" rtlCol="0" anchor="t"/>
          <a:lstStyle/>
          <a:p>
            <a:pPr marL="0" indent="0" algn="l">
              <a:lnSpc>
                <a:spcPts val="1850"/>
              </a:lnSpc>
              <a:buNone/>
            </a:pPr>
            <a:endParaRPr lang="en-US" sz="1150" dirty="0"/>
          </a:p>
        </p:txBody>
      </p:sp>
      <p:graphicFrame>
        <p:nvGraphicFramePr>
          <p:cNvPr id="9" name="Table 8">
            <a:extLst>
              <a:ext uri="{FF2B5EF4-FFF2-40B4-BE49-F238E27FC236}">
                <a16:creationId xmlns:a16="http://schemas.microsoft.com/office/drawing/2014/main" id="{D0915FDF-504C-7732-20FA-E299F2ACA4D2}"/>
              </a:ext>
            </a:extLst>
          </p:cNvPr>
          <p:cNvGraphicFramePr>
            <a:graphicFrameLocks noGrp="1"/>
          </p:cNvGraphicFramePr>
          <p:nvPr>
            <p:extLst>
              <p:ext uri="{D42A27DB-BD31-4B8C-83A1-F6EECF244321}">
                <p14:modId xmlns:p14="http://schemas.microsoft.com/office/powerpoint/2010/main" val="3805896777"/>
              </p:ext>
            </p:extLst>
          </p:nvPr>
        </p:nvGraphicFramePr>
        <p:xfrm>
          <a:off x="-1" y="3253838"/>
          <a:ext cx="14630400" cy="5013960"/>
        </p:xfrm>
        <a:graphic>
          <a:graphicData uri="http://schemas.openxmlformats.org/drawingml/2006/table">
            <a:tbl>
              <a:tblPr firstRow="1" bandRow="1">
                <a:tableStyleId>{5940675A-B579-460E-94D1-54222C63F5DA}</a:tableStyleId>
              </a:tblPr>
              <a:tblGrid>
                <a:gridCol w="7315200">
                  <a:extLst>
                    <a:ext uri="{9D8B030D-6E8A-4147-A177-3AD203B41FA5}">
                      <a16:colId xmlns:a16="http://schemas.microsoft.com/office/drawing/2014/main" val="1517442655"/>
                    </a:ext>
                  </a:extLst>
                </a:gridCol>
                <a:gridCol w="7315200">
                  <a:extLst>
                    <a:ext uri="{9D8B030D-6E8A-4147-A177-3AD203B41FA5}">
                      <a16:colId xmlns:a16="http://schemas.microsoft.com/office/drawing/2014/main" val="2492081190"/>
                    </a:ext>
                  </a:extLst>
                </a:gridCol>
              </a:tblGrid>
              <a:tr h="4975761">
                <a:tc>
                  <a:txBody>
                    <a:bodyPr/>
                    <a:lstStyle/>
                    <a:p>
                      <a:r>
                        <a:rPr lang="en-US" sz="1700" b="0" kern="1200" dirty="0">
                          <a:solidFill>
                            <a:schemeClr val="bg1"/>
                          </a:solidFill>
                          <a:effectLst/>
                          <a:latin typeface="+mn-lt"/>
                          <a:ea typeface="+mn-ea"/>
                          <a:cs typeface="+mn-cs"/>
                        </a:rPr>
                        <a:t>import </a:t>
                      </a:r>
                      <a:r>
                        <a:rPr lang="en-US" sz="1700" b="0" kern="1200" dirty="0" err="1">
                          <a:solidFill>
                            <a:schemeClr val="bg1"/>
                          </a:solidFill>
                          <a:effectLst/>
                          <a:latin typeface="+mn-lt"/>
                          <a:ea typeface="+mn-ea"/>
                          <a:cs typeface="+mn-cs"/>
                        </a:rPr>
                        <a:t>librosa</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import </a:t>
                      </a:r>
                      <a:r>
                        <a:rPr lang="en-US" sz="1700" b="0" kern="1200" dirty="0" err="1">
                          <a:solidFill>
                            <a:schemeClr val="bg1"/>
                          </a:solidFill>
                          <a:effectLst/>
                          <a:latin typeface="+mn-lt"/>
                          <a:ea typeface="+mn-ea"/>
                          <a:cs typeface="+mn-cs"/>
                        </a:rPr>
                        <a:t>soundfile</a:t>
                      </a:r>
                      <a:r>
                        <a:rPr lang="en-US" sz="1700" b="0" kern="1200" dirty="0">
                          <a:solidFill>
                            <a:schemeClr val="bg1"/>
                          </a:solidFill>
                          <a:effectLst/>
                          <a:latin typeface="+mn-lt"/>
                          <a:ea typeface="+mn-ea"/>
                          <a:cs typeface="+mn-cs"/>
                        </a:rPr>
                        <a:t> as sf</a:t>
                      </a:r>
                    </a:p>
                    <a:p>
                      <a:r>
                        <a:rPr lang="en-US" sz="1700" b="0" kern="1200" dirty="0">
                          <a:solidFill>
                            <a:schemeClr val="bg1"/>
                          </a:solidFill>
                          <a:effectLst/>
                          <a:latin typeface="+mn-lt"/>
                          <a:ea typeface="+mn-ea"/>
                          <a:cs typeface="+mn-cs"/>
                        </a:rPr>
                        <a:t>import </a:t>
                      </a:r>
                      <a:r>
                        <a:rPr lang="en-US" sz="1700" b="0" kern="1200" dirty="0" err="1">
                          <a:solidFill>
                            <a:schemeClr val="bg1"/>
                          </a:solidFill>
                          <a:effectLst/>
                          <a:latin typeface="+mn-lt"/>
                          <a:ea typeface="+mn-ea"/>
                          <a:cs typeface="+mn-cs"/>
                        </a:rPr>
                        <a:t>numpy</a:t>
                      </a:r>
                      <a:r>
                        <a:rPr lang="en-US" sz="1700" b="0" kern="1200" dirty="0">
                          <a:solidFill>
                            <a:schemeClr val="bg1"/>
                          </a:solidFill>
                          <a:effectLst/>
                          <a:latin typeface="+mn-lt"/>
                          <a:ea typeface="+mn-ea"/>
                          <a:cs typeface="+mn-cs"/>
                        </a:rPr>
                        <a:t> as np</a:t>
                      </a:r>
                    </a:p>
                    <a:p>
                      <a:r>
                        <a:rPr lang="en-US" sz="1700" b="0" kern="1200" dirty="0">
                          <a:solidFill>
                            <a:schemeClr val="bg1"/>
                          </a:solidFill>
                          <a:effectLst/>
                          <a:latin typeface="+mn-lt"/>
                          <a:ea typeface="+mn-ea"/>
                          <a:cs typeface="+mn-cs"/>
                        </a:rPr>
                        <a:t>import pandas as pd</a:t>
                      </a: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sklearn.model_selection</a:t>
                      </a:r>
                      <a:r>
                        <a:rPr lang="en-US" sz="1700" b="0" kern="1200" dirty="0">
                          <a:solidFill>
                            <a:schemeClr val="bg1"/>
                          </a:solidFill>
                          <a:effectLst/>
                          <a:latin typeface="+mn-lt"/>
                          <a:ea typeface="+mn-ea"/>
                          <a:cs typeface="+mn-cs"/>
                        </a:rPr>
                        <a:t> import </a:t>
                      </a:r>
                      <a:r>
                        <a:rPr lang="en-US" sz="1700" b="0" kern="1200" dirty="0" err="1">
                          <a:solidFill>
                            <a:schemeClr val="bg1"/>
                          </a:solidFill>
                          <a:effectLst/>
                          <a:latin typeface="+mn-lt"/>
                          <a:ea typeface="+mn-ea"/>
                          <a:cs typeface="+mn-cs"/>
                        </a:rPr>
                        <a:t>train_test_split</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import </a:t>
                      </a:r>
                      <a:r>
                        <a:rPr lang="en-US" sz="1700" b="0" kern="1200" dirty="0" err="1">
                          <a:solidFill>
                            <a:schemeClr val="bg1"/>
                          </a:solidFill>
                          <a:effectLst/>
                          <a:latin typeface="+mn-lt"/>
                          <a:ea typeface="+mn-ea"/>
                          <a:cs typeface="+mn-cs"/>
                        </a:rPr>
                        <a:t>tensorflow</a:t>
                      </a:r>
                      <a:r>
                        <a:rPr lang="en-US" sz="1700" b="0" kern="1200" dirty="0">
                          <a:solidFill>
                            <a:schemeClr val="bg1"/>
                          </a:solidFill>
                          <a:effectLst/>
                          <a:latin typeface="+mn-lt"/>
                          <a:ea typeface="+mn-ea"/>
                          <a:cs typeface="+mn-cs"/>
                        </a:rPr>
                        <a:t> as </a:t>
                      </a:r>
                      <a:r>
                        <a:rPr lang="en-US" sz="1700" b="0" kern="1200" dirty="0" err="1">
                          <a:solidFill>
                            <a:schemeClr val="bg1"/>
                          </a:solidFill>
                          <a:effectLst/>
                          <a:latin typeface="+mn-lt"/>
                          <a:ea typeface="+mn-ea"/>
                          <a:cs typeface="+mn-cs"/>
                        </a:rPr>
                        <a:t>tf</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tensorflow</a:t>
                      </a:r>
                      <a:r>
                        <a:rPr lang="en-US" sz="1700" b="0" kern="1200" dirty="0">
                          <a:solidFill>
                            <a:schemeClr val="bg1"/>
                          </a:solidFill>
                          <a:effectLst/>
                          <a:latin typeface="+mn-lt"/>
                          <a:ea typeface="+mn-ea"/>
                          <a:cs typeface="+mn-cs"/>
                        </a:rPr>
                        <a:t> import </a:t>
                      </a:r>
                      <a:r>
                        <a:rPr lang="en-US" sz="1700" b="0" kern="1200" dirty="0" err="1">
                          <a:solidFill>
                            <a:schemeClr val="bg1"/>
                          </a:solidFill>
                          <a:effectLst/>
                          <a:latin typeface="+mn-lt"/>
                          <a:ea typeface="+mn-ea"/>
                          <a:cs typeface="+mn-cs"/>
                        </a:rPr>
                        <a:t>keras</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tensorflow.keras</a:t>
                      </a:r>
                      <a:r>
                        <a:rPr lang="en-US" sz="1700" b="0" kern="1200" dirty="0">
                          <a:solidFill>
                            <a:schemeClr val="bg1"/>
                          </a:solidFill>
                          <a:effectLst/>
                          <a:latin typeface="+mn-lt"/>
                          <a:ea typeface="+mn-ea"/>
                          <a:cs typeface="+mn-cs"/>
                        </a:rPr>
                        <a:t> import layers</a:t>
                      </a:r>
                    </a:p>
                    <a:p>
                      <a:r>
                        <a:rPr lang="en-US" sz="1700" b="0" kern="1200" dirty="0">
                          <a:solidFill>
                            <a:schemeClr val="bg1"/>
                          </a:solidFill>
                          <a:effectLst/>
                          <a:latin typeface="+mn-lt"/>
                          <a:ea typeface="+mn-ea"/>
                          <a:cs typeface="+mn-cs"/>
                        </a:rPr>
                        <a:t>import </a:t>
                      </a:r>
                      <a:r>
                        <a:rPr lang="en-US" sz="1700" b="0" kern="1200" dirty="0" err="1">
                          <a:solidFill>
                            <a:schemeClr val="bg1"/>
                          </a:solidFill>
                          <a:effectLst/>
                          <a:latin typeface="+mn-lt"/>
                          <a:ea typeface="+mn-ea"/>
                          <a:cs typeface="+mn-cs"/>
                        </a:rPr>
                        <a:t>gradio</a:t>
                      </a:r>
                      <a:r>
                        <a:rPr lang="en-US" sz="1700" b="0" kern="1200" dirty="0">
                          <a:solidFill>
                            <a:schemeClr val="bg1"/>
                          </a:solidFill>
                          <a:effectLst/>
                          <a:latin typeface="+mn-lt"/>
                          <a:ea typeface="+mn-ea"/>
                          <a:cs typeface="+mn-cs"/>
                        </a:rPr>
                        <a:t> as gr</a:t>
                      </a:r>
                    </a:p>
                    <a:p>
                      <a:r>
                        <a:rPr lang="en-US" sz="1700" b="0" kern="1200" dirty="0">
                          <a:solidFill>
                            <a:schemeClr val="bg1"/>
                          </a:solidFill>
                          <a:effectLst/>
                          <a:latin typeface="+mn-lt"/>
                          <a:ea typeface="+mn-ea"/>
                          <a:cs typeface="+mn-cs"/>
                        </a:rPr>
                        <a:t>import </a:t>
                      </a:r>
                      <a:r>
                        <a:rPr lang="en-US" sz="1700" b="0" kern="1200" dirty="0" err="1">
                          <a:solidFill>
                            <a:schemeClr val="bg1"/>
                          </a:solidFill>
                          <a:effectLst/>
                          <a:latin typeface="+mn-lt"/>
                          <a:ea typeface="+mn-ea"/>
                          <a:cs typeface="+mn-cs"/>
                        </a:rPr>
                        <a:t>joblib</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google.colab</a:t>
                      </a:r>
                      <a:r>
                        <a:rPr lang="en-US" sz="1700" b="0" kern="1200" dirty="0">
                          <a:solidFill>
                            <a:schemeClr val="bg1"/>
                          </a:solidFill>
                          <a:effectLst/>
                          <a:latin typeface="+mn-lt"/>
                          <a:ea typeface="+mn-ea"/>
                          <a:cs typeface="+mn-cs"/>
                        </a:rPr>
                        <a:t> import files</a:t>
                      </a:r>
                    </a:p>
                    <a:p>
                      <a:r>
                        <a:rPr lang="en-US" sz="1700" b="0" kern="1200" dirty="0">
                          <a:solidFill>
                            <a:schemeClr val="bg1"/>
                          </a:solidFill>
                          <a:effectLst/>
                          <a:latin typeface="+mn-lt"/>
                          <a:ea typeface="+mn-ea"/>
                          <a:cs typeface="+mn-cs"/>
                        </a:rPr>
                        <a:t>import </a:t>
                      </a:r>
                      <a:r>
                        <a:rPr lang="en-US" sz="1700" b="0" kern="1200" dirty="0" err="1">
                          <a:solidFill>
                            <a:schemeClr val="bg1"/>
                          </a:solidFill>
                          <a:effectLst/>
                          <a:latin typeface="+mn-lt"/>
                          <a:ea typeface="+mn-ea"/>
                          <a:cs typeface="+mn-cs"/>
                        </a:rPr>
                        <a:t>os</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sklearn.preprocessing</a:t>
                      </a:r>
                      <a:r>
                        <a:rPr lang="en-US" sz="1700" b="0" kern="1200" dirty="0">
                          <a:solidFill>
                            <a:schemeClr val="bg1"/>
                          </a:solidFill>
                          <a:effectLst/>
                          <a:latin typeface="+mn-lt"/>
                          <a:ea typeface="+mn-ea"/>
                          <a:cs typeface="+mn-cs"/>
                        </a:rPr>
                        <a:t> import </a:t>
                      </a:r>
                      <a:r>
                        <a:rPr lang="en-US" sz="1700" b="0" kern="1200" dirty="0" err="1">
                          <a:solidFill>
                            <a:schemeClr val="bg1"/>
                          </a:solidFill>
                          <a:effectLst/>
                          <a:latin typeface="+mn-lt"/>
                          <a:ea typeface="+mn-ea"/>
                          <a:cs typeface="+mn-cs"/>
                        </a:rPr>
                        <a:t>LabelEncoder</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tensorflow.keras.utils</a:t>
                      </a:r>
                      <a:r>
                        <a:rPr lang="en-US" sz="1700" b="0" kern="1200" dirty="0">
                          <a:solidFill>
                            <a:schemeClr val="bg1"/>
                          </a:solidFill>
                          <a:effectLst/>
                          <a:latin typeface="+mn-lt"/>
                          <a:ea typeface="+mn-ea"/>
                          <a:cs typeface="+mn-cs"/>
                        </a:rPr>
                        <a:t> import </a:t>
                      </a:r>
                      <a:r>
                        <a:rPr lang="en-US" sz="1700" b="0" kern="1200" dirty="0" err="1">
                          <a:solidFill>
                            <a:schemeClr val="bg1"/>
                          </a:solidFill>
                          <a:effectLst/>
                          <a:latin typeface="+mn-lt"/>
                          <a:ea typeface="+mn-ea"/>
                          <a:cs typeface="+mn-cs"/>
                        </a:rPr>
                        <a:t>to_categorical</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tensorflow.keras.models</a:t>
                      </a:r>
                      <a:r>
                        <a:rPr lang="en-US" sz="1700" b="0" kern="1200" dirty="0">
                          <a:solidFill>
                            <a:schemeClr val="bg1"/>
                          </a:solidFill>
                          <a:effectLst/>
                          <a:latin typeface="+mn-lt"/>
                          <a:ea typeface="+mn-ea"/>
                          <a:cs typeface="+mn-cs"/>
                        </a:rPr>
                        <a:t> import Sequential</a:t>
                      </a: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tensorflow.keras.callbacks</a:t>
                      </a:r>
                      <a:r>
                        <a:rPr lang="en-US" sz="1700" b="0" kern="1200" dirty="0">
                          <a:solidFill>
                            <a:schemeClr val="bg1"/>
                          </a:solidFill>
                          <a:effectLst/>
                          <a:latin typeface="+mn-lt"/>
                          <a:ea typeface="+mn-ea"/>
                          <a:cs typeface="+mn-cs"/>
                        </a:rPr>
                        <a:t> import </a:t>
                      </a:r>
                      <a:r>
                        <a:rPr lang="en-US" sz="1700" b="0" kern="1200" dirty="0" err="1">
                          <a:solidFill>
                            <a:schemeClr val="bg1"/>
                          </a:solidFill>
                          <a:effectLst/>
                          <a:latin typeface="+mn-lt"/>
                          <a:ea typeface="+mn-ea"/>
                          <a:cs typeface="+mn-cs"/>
                        </a:rPr>
                        <a:t>EarlyStopping</a:t>
                      </a:r>
                      <a:r>
                        <a:rPr lang="en-US" sz="1700" b="0" kern="1200" dirty="0">
                          <a:solidFill>
                            <a:schemeClr val="bg1"/>
                          </a:solidFill>
                          <a:effectLst/>
                          <a:latin typeface="+mn-lt"/>
                          <a:ea typeface="+mn-ea"/>
                          <a:cs typeface="+mn-cs"/>
                        </a:rPr>
                        <a:t>, </a:t>
                      </a:r>
                      <a:r>
                        <a:rPr lang="en-US" sz="1700" b="0" kern="1200" dirty="0" err="1">
                          <a:solidFill>
                            <a:schemeClr val="bg1"/>
                          </a:solidFill>
                          <a:effectLst/>
                          <a:latin typeface="+mn-lt"/>
                          <a:ea typeface="+mn-ea"/>
                          <a:cs typeface="+mn-cs"/>
                        </a:rPr>
                        <a:t>ModelCheckpoint</a:t>
                      </a:r>
                      <a:endParaRPr lang="en-US" sz="1700" b="0" kern="1200" dirty="0">
                        <a:solidFill>
                          <a:schemeClr val="bg1"/>
                        </a:solidFill>
                        <a:effectLst/>
                        <a:latin typeface="+mn-lt"/>
                        <a:ea typeface="+mn-ea"/>
                        <a:cs typeface="+mn-cs"/>
                      </a:endParaRPr>
                    </a:p>
                    <a:p>
                      <a:r>
                        <a:rPr lang="en-US" sz="1700" b="0" kern="1200" dirty="0">
                          <a:solidFill>
                            <a:schemeClr val="bg1"/>
                          </a:solidFill>
                          <a:effectLst/>
                          <a:latin typeface="+mn-lt"/>
                          <a:ea typeface="+mn-ea"/>
                          <a:cs typeface="+mn-cs"/>
                        </a:rPr>
                        <a:t>from </a:t>
                      </a:r>
                      <a:r>
                        <a:rPr lang="en-US" sz="1700" b="0" kern="1200" dirty="0" err="1">
                          <a:solidFill>
                            <a:schemeClr val="bg1"/>
                          </a:solidFill>
                          <a:effectLst/>
                          <a:latin typeface="+mn-lt"/>
                          <a:ea typeface="+mn-ea"/>
                          <a:cs typeface="+mn-cs"/>
                        </a:rPr>
                        <a:t>tensorflow.keras.layers</a:t>
                      </a:r>
                      <a:r>
                        <a:rPr lang="en-US" sz="1700" b="0" kern="1200" dirty="0">
                          <a:solidFill>
                            <a:schemeClr val="bg1"/>
                          </a:solidFill>
                          <a:effectLst/>
                          <a:latin typeface="+mn-lt"/>
                          <a:ea typeface="+mn-ea"/>
                          <a:cs typeface="+mn-cs"/>
                        </a:rPr>
                        <a:t> import Conv1D,MaxPooling1D,Flatten,Dense,Dropout,BatchNormalization</a:t>
                      </a:r>
                    </a:p>
                    <a:p>
                      <a:endParaRPr lang="en-US" sz="1700" dirty="0">
                        <a:solidFill>
                          <a:schemeClr val="bg1"/>
                        </a:solidFill>
                      </a:endParaRPr>
                    </a:p>
                  </a:txBody>
                  <a:tcPr/>
                </a:tc>
                <a:tc>
                  <a:txBody>
                    <a:bodyPr/>
                    <a:lstStyle/>
                    <a:p>
                      <a:r>
                        <a:rPr lang="en-US" sz="1800" b="0" kern="1200" dirty="0">
                          <a:solidFill>
                            <a:schemeClr val="bg1"/>
                          </a:solidFill>
                          <a:effectLst/>
                          <a:latin typeface="+mn-lt"/>
                          <a:ea typeface="+mn-ea"/>
                          <a:cs typeface="+mn-cs"/>
                        </a:rPr>
                        <a:t>!pip install </a:t>
                      </a:r>
                      <a:r>
                        <a:rPr lang="en-US" sz="1800" b="0" kern="1200" dirty="0" err="1">
                          <a:solidFill>
                            <a:schemeClr val="bg1"/>
                          </a:solidFill>
                          <a:effectLst/>
                          <a:latin typeface="+mn-lt"/>
                          <a:ea typeface="+mn-ea"/>
                          <a:cs typeface="+mn-cs"/>
                        </a:rPr>
                        <a:t>kaggle</a:t>
                      </a:r>
                      <a:r>
                        <a:rPr lang="en-US" sz="1800" b="0" kern="1200" dirty="0">
                          <a:solidFill>
                            <a:schemeClr val="bg1"/>
                          </a:solidFill>
                          <a:effectLst/>
                          <a:latin typeface="+mn-lt"/>
                          <a:ea typeface="+mn-ea"/>
                          <a:cs typeface="+mn-cs"/>
                        </a:rPr>
                        <a:t>   #install Kaggle #uwrfkaggler/ravdess-emotional-speech-audio</a:t>
                      </a:r>
                    </a:p>
                    <a:p>
                      <a:endParaRPr lang="en-US" sz="1800" b="0" kern="1200" dirty="0">
                        <a:solidFill>
                          <a:schemeClr val="bg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err="1">
                          <a:solidFill>
                            <a:schemeClr val="bg1"/>
                          </a:solidFill>
                          <a:effectLst/>
                          <a:latin typeface="+mn-lt"/>
                          <a:ea typeface="+mn-ea"/>
                          <a:cs typeface="+mn-cs"/>
                        </a:rPr>
                        <a:t>files.upload</a:t>
                      </a:r>
                      <a:r>
                        <a:rPr lang="en-US" sz="1800" b="0" kern="1200" dirty="0">
                          <a:solidFill>
                            <a:schemeClr val="bg1"/>
                          </a:solidFill>
                          <a:effectLst/>
                          <a:latin typeface="+mn-lt"/>
                          <a:ea typeface="+mn-ea"/>
                          <a:cs typeface="+mn-cs"/>
                        </a:rPr>
                        <a:t>()     #upload </a:t>
                      </a:r>
                      <a:r>
                        <a:rPr lang="en-US" sz="1800" b="0" kern="1200" dirty="0" err="1">
                          <a:solidFill>
                            <a:schemeClr val="bg1"/>
                          </a:solidFill>
                          <a:effectLst/>
                          <a:latin typeface="+mn-lt"/>
                          <a:ea typeface="+mn-ea"/>
                          <a:cs typeface="+mn-cs"/>
                        </a:rPr>
                        <a:t>kaggle</a:t>
                      </a:r>
                      <a:r>
                        <a:rPr lang="en-US" sz="1800" b="0" kern="1200" dirty="0">
                          <a:solidFill>
                            <a:schemeClr val="bg1"/>
                          </a:solidFill>
                          <a:effectLst/>
                          <a:latin typeface="+mn-lt"/>
                          <a:ea typeface="+mn-ea"/>
                          <a:cs typeface="+mn-cs"/>
                        </a:rPr>
                        <a:t> file</a:t>
                      </a:r>
                    </a:p>
                    <a:p>
                      <a:endParaRPr lang="en-US" sz="1800" b="0" kern="1200" dirty="0">
                        <a:solidFill>
                          <a:schemeClr val="bg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bg1"/>
                          </a:solidFill>
                          <a:effectLst/>
                          <a:latin typeface="+mn-lt"/>
                          <a:ea typeface="+mn-ea"/>
                          <a:cs typeface="+mn-cs"/>
                        </a:rPr>
                        <a:t>!</a:t>
                      </a:r>
                      <a:r>
                        <a:rPr lang="en-US" sz="1800" b="0" kern="1200" dirty="0" err="1">
                          <a:solidFill>
                            <a:schemeClr val="bg1"/>
                          </a:solidFill>
                          <a:effectLst/>
                          <a:latin typeface="+mn-lt"/>
                          <a:ea typeface="+mn-ea"/>
                          <a:cs typeface="+mn-cs"/>
                        </a:rPr>
                        <a:t>mkdir</a:t>
                      </a:r>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kaggle</a:t>
                      </a:r>
                      <a:r>
                        <a:rPr lang="en-US" sz="1800" b="0" kern="1200" dirty="0">
                          <a:solidFill>
                            <a:schemeClr val="bg1"/>
                          </a:solidFill>
                          <a:effectLst/>
                          <a:latin typeface="+mn-lt"/>
                          <a:ea typeface="+mn-ea"/>
                          <a:cs typeface="+mn-cs"/>
                        </a:rPr>
                        <a:t>  #making folder of </a:t>
                      </a:r>
                      <a:r>
                        <a:rPr lang="en-US" sz="1800" b="0" kern="1200" dirty="0" err="1">
                          <a:solidFill>
                            <a:schemeClr val="bg1"/>
                          </a:solidFill>
                          <a:effectLst/>
                          <a:latin typeface="+mn-lt"/>
                          <a:ea typeface="+mn-ea"/>
                          <a:cs typeface="+mn-cs"/>
                        </a:rPr>
                        <a:t>kaggle</a:t>
                      </a:r>
                      <a:endParaRPr lang="en-US" sz="1800" b="0" kern="1200" dirty="0">
                        <a:solidFill>
                          <a:schemeClr val="bg1"/>
                        </a:solidFill>
                        <a:effectLst/>
                        <a:latin typeface="+mn-lt"/>
                        <a:ea typeface="+mn-ea"/>
                        <a:cs typeface="+mn-cs"/>
                      </a:endParaRPr>
                    </a:p>
                    <a:p>
                      <a:endParaRPr lang="en-US" sz="1700" dirty="0">
                        <a:solidFill>
                          <a:schemeClr val="bg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bg1"/>
                          </a:solidFill>
                          <a:effectLst/>
                          <a:latin typeface="+mn-lt"/>
                          <a:ea typeface="+mn-ea"/>
                          <a:cs typeface="+mn-cs"/>
                        </a:rPr>
                        <a:t>!cp </a:t>
                      </a:r>
                      <a:r>
                        <a:rPr lang="en-US" sz="1800" b="0" kern="1200" dirty="0" err="1">
                          <a:solidFill>
                            <a:schemeClr val="bg1"/>
                          </a:solidFill>
                          <a:effectLst/>
                          <a:latin typeface="+mn-lt"/>
                          <a:ea typeface="+mn-ea"/>
                          <a:cs typeface="+mn-cs"/>
                        </a:rPr>
                        <a:t>kaggle.json</a:t>
                      </a:r>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kaggle</a:t>
                      </a:r>
                      <a:r>
                        <a:rPr lang="en-US" sz="1800" b="0" kern="1200" dirty="0">
                          <a:solidFill>
                            <a:schemeClr val="bg1"/>
                          </a:solidFill>
                          <a:effectLst/>
                          <a:latin typeface="+mn-lt"/>
                          <a:ea typeface="+mn-ea"/>
                          <a:cs typeface="+mn-cs"/>
                        </a:rPr>
                        <a:t>/   # copying the file</a:t>
                      </a:r>
                    </a:p>
                    <a:p>
                      <a:endParaRPr lang="en-US" sz="1700" dirty="0">
                        <a:solidFill>
                          <a:schemeClr val="bg1"/>
                        </a:solidFill>
                      </a:endParaRPr>
                    </a:p>
                    <a:p>
                      <a:r>
                        <a:rPr lang="en-US" sz="1800" b="0" kern="1200" dirty="0">
                          <a:solidFill>
                            <a:schemeClr val="bg1"/>
                          </a:solidFill>
                          <a:effectLst/>
                          <a:latin typeface="+mn-lt"/>
                          <a:ea typeface="+mn-ea"/>
                          <a:cs typeface="+mn-cs"/>
                        </a:rPr>
                        <a:t>!</a:t>
                      </a:r>
                      <a:r>
                        <a:rPr lang="en-US" sz="1800" b="0" kern="1200" dirty="0" err="1">
                          <a:solidFill>
                            <a:schemeClr val="bg1"/>
                          </a:solidFill>
                          <a:effectLst/>
                          <a:latin typeface="+mn-lt"/>
                          <a:ea typeface="+mn-ea"/>
                          <a:cs typeface="+mn-cs"/>
                        </a:rPr>
                        <a:t>mkdir</a:t>
                      </a:r>
                      <a:r>
                        <a:rPr lang="en-US" sz="1800" b="0" kern="1200" dirty="0">
                          <a:solidFill>
                            <a:schemeClr val="bg1"/>
                          </a:solidFill>
                          <a:effectLst/>
                          <a:latin typeface="+mn-lt"/>
                          <a:ea typeface="+mn-ea"/>
                          <a:cs typeface="+mn-cs"/>
                        </a:rPr>
                        <a:t> -p ~/.</a:t>
                      </a:r>
                      <a:r>
                        <a:rPr lang="en-US" sz="1800" b="0" kern="1200" dirty="0" err="1">
                          <a:solidFill>
                            <a:schemeClr val="bg1"/>
                          </a:solidFill>
                          <a:effectLst/>
                          <a:latin typeface="+mn-lt"/>
                          <a:ea typeface="+mn-ea"/>
                          <a:cs typeface="+mn-cs"/>
                        </a:rPr>
                        <a:t>kaggle</a:t>
                      </a:r>
                      <a:endParaRPr lang="en-US" sz="1800" b="0" kern="1200" dirty="0">
                        <a:solidFill>
                          <a:schemeClr val="bg1"/>
                        </a:solidFill>
                        <a:effectLst/>
                        <a:latin typeface="+mn-lt"/>
                        <a:ea typeface="+mn-ea"/>
                        <a:cs typeface="+mn-cs"/>
                      </a:endParaRPr>
                    </a:p>
                    <a:p>
                      <a:r>
                        <a:rPr lang="en-US" sz="1800" b="0" kern="1200" dirty="0">
                          <a:solidFill>
                            <a:schemeClr val="bg1"/>
                          </a:solidFill>
                          <a:effectLst/>
                          <a:latin typeface="+mn-lt"/>
                          <a:ea typeface="+mn-ea"/>
                          <a:cs typeface="+mn-cs"/>
                        </a:rPr>
                        <a:t>!mv </a:t>
                      </a:r>
                      <a:r>
                        <a:rPr lang="en-US" sz="1800" b="0" kern="1200" dirty="0" err="1">
                          <a:solidFill>
                            <a:schemeClr val="bg1"/>
                          </a:solidFill>
                          <a:effectLst/>
                          <a:latin typeface="+mn-lt"/>
                          <a:ea typeface="+mn-ea"/>
                          <a:cs typeface="+mn-cs"/>
                        </a:rPr>
                        <a:t>kaggle.json</a:t>
                      </a:r>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kaggle</a:t>
                      </a:r>
                      <a:r>
                        <a:rPr lang="en-US" sz="1800" b="0" kern="1200" dirty="0">
                          <a:solidFill>
                            <a:schemeClr val="bg1"/>
                          </a:solidFill>
                          <a:effectLst/>
                          <a:latin typeface="+mn-lt"/>
                          <a:ea typeface="+mn-ea"/>
                          <a:cs typeface="+mn-cs"/>
                        </a:rPr>
                        <a:t>/</a:t>
                      </a:r>
                    </a:p>
                    <a:p>
                      <a:r>
                        <a:rPr lang="en-US" sz="1800" b="0" kern="1200" dirty="0">
                          <a:solidFill>
                            <a:schemeClr val="bg1"/>
                          </a:solidFill>
                          <a:effectLst/>
                          <a:latin typeface="+mn-lt"/>
                          <a:ea typeface="+mn-ea"/>
                          <a:cs typeface="+mn-cs"/>
                        </a:rPr>
                        <a:t>!</a:t>
                      </a:r>
                      <a:r>
                        <a:rPr lang="en-US" sz="1800" b="0" kern="1200" dirty="0" err="1">
                          <a:solidFill>
                            <a:schemeClr val="bg1"/>
                          </a:solidFill>
                          <a:effectLst/>
                          <a:latin typeface="+mn-lt"/>
                          <a:ea typeface="+mn-ea"/>
                          <a:cs typeface="+mn-cs"/>
                        </a:rPr>
                        <a:t>chmod</a:t>
                      </a:r>
                      <a:r>
                        <a:rPr lang="en-US" sz="1800" b="0" kern="1200" dirty="0">
                          <a:solidFill>
                            <a:schemeClr val="bg1"/>
                          </a:solidFill>
                          <a:effectLst/>
                          <a:latin typeface="+mn-lt"/>
                          <a:ea typeface="+mn-ea"/>
                          <a:cs typeface="+mn-cs"/>
                        </a:rPr>
                        <a:t> 600 ~/.</a:t>
                      </a:r>
                      <a:r>
                        <a:rPr lang="en-US" sz="1800" b="0" kern="1200" dirty="0" err="1">
                          <a:solidFill>
                            <a:schemeClr val="bg1"/>
                          </a:solidFill>
                          <a:effectLst/>
                          <a:latin typeface="+mn-lt"/>
                          <a:ea typeface="+mn-ea"/>
                          <a:cs typeface="+mn-cs"/>
                        </a:rPr>
                        <a:t>kaggle</a:t>
                      </a:r>
                      <a:r>
                        <a:rPr lang="en-US" sz="1800" b="0" kern="1200" dirty="0">
                          <a:solidFill>
                            <a:schemeClr val="bg1"/>
                          </a:solidFill>
                          <a:effectLst/>
                          <a:latin typeface="+mn-lt"/>
                          <a:ea typeface="+mn-ea"/>
                          <a:cs typeface="+mn-cs"/>
                        </a:rPr>
                        <a:t>/</a:t>
                      </a:r>
                      <a:r>
                        <a:rPr lang="en-US" sz="1800" b="0" kern="1200" dirty="0" err="1">
                          <a:solidFill>
                            <a:schemeClr val="bg1"/>
                          </a:solidFill>
                          <a:effectLst/>
                          <a:latin typeface="+mn-lt"/>
                          <a:ea typeface="+mn-ea"/>
                          <a:cs typeface="+mn-cs"/>
                        </a:rPr>
                        <a:t>kaggle.json</a:t>
                      </a:r>
                      <a:endParaRPr lang="en-US" sz="1800" b="0" kern="1200" dirty="0">
                        <a:solidFill>
                          <a:schemeClr val="bg1"/>
                        </a:solidFill>
                        <a:effectLst/>
                        <a:latin typeface="+mn-lt"/>
                        <a:ea typeface="+mn-ea"/>
                        <a:cs typeface="+mn-cs"/>
                      </a:endParaRPr>
                    </a:p>
                    <a:p>
                      <a:endParaRPr lang="en-US" sz="1800" b="0" kern="1200" dirty="0">
                        <a:solidFill>
                          <a:schemeClr val="bg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bg1"/>
                          </a:solidFill>
                          <a:effectLst/>
                          <a:latin typeface="+mn-lt"/>
                          <a:ea typeface="+mn-ea"/>
                          <a:cs typeface="+mn-cs"/>
                        </a:rPr>
                        <a:t>!</a:t>
                      </a:r>
                      <a:r>
                        <a:rPr lang="en-US" sz="1800" b="0" kern="1200" dirty="0" err="1">
                          <a:solidFill>
                            <a:schemeClr val="bg1"/>
                          </a:solidFill>
                          <a:effectLst/>
                          <a:latin typeface="+mn-lt"/>
                          <a:ea typeface="+mn-ea"/>
                          <a:cs typeface="+mn-cs"/>
                        </a:rPr>
                        <a:t>kaggle</a:t>
                      </a:r>
                      <a:r>
                        <a:rPr lang="en-US" sz="1800" b="0" kern="1200" dirty="0">
                          <a:solidFill>
                            <a:schemeClr val="bg1"/>
                          </a:solidFill>
                          <a:effectLst/>
                          <a:latin typeface="+mn-lt"/>
                          <a:ea typeface="+mn-ea"/>
                          <a:cs typeface="+mn-cs"/>
                        </a:rPr>
                        <a:t> datasets download -d </a:t>
                      </a:r>
                      <a:r>
                        <a:rPr lang="en-US" sz="1800" b="0" kern="1200" dirty="0" err="1">
                          <a:solidFill>
                            <a:schemeClr val="bg1"/>
                          </a:solidFill>
                          <a:effectLst/>
                          <a:latin typeface="+mn-lt"/>
                          <a:ea typeface="+mn-ea"/>
                          <a:cs typeface="+mn-cs"/>
                        </a:rPr>
                        <a:t>uwrfkaggler</a:t>
                      </a:r>
                      <a:r>
                        <a:rPr lang="en-US" sz="1800" b="0" kern="1200" dirty="0">
                          <a:solidFill>
                            <a:schemeClr val="bg1"/>
                          </a:solidFill>
                          <a:effectLst/>
                          <a:latin typeface="+mn-lt"/>
                          <a:ea typeface="+mn-ea"/>
                          <a:cs typeface="+mn-cs"/>
                        </a:rPr>
                        <a:t>/</a:t>
                      </a:r>
                      <a:r>
                        <a:rPr lang="en-US" sz="1800" b="0" kern="1200" dirty="0" err="1">
                          <a:solidFill>
                            <a:schemeClr val="bg1"/>
                          </a:solidFill>
                          <a:effectLst/>
                          <a:latin typeface="+mn-lt"/>
                          <a:ea typeface="+mn-ea"/>
                          <a:cs typeface="+mn-cs"/>
                        </a:rPr>
                        <a:t>ravdess</a:t>
                      </a:r>
                      <a:r>
                        <a:rPr lang="en-US" sz="1800" b="0" kern="1200" dirty="0">
                          <a:solidFill>
                            <a:schemeClr val="bg1"/>
                          </a:solidFill>
                          <a:effectLst/>
                          <a:latin typeface="+mn-lt"/>
                          <a:ea typeface="+mn-ea"/>
                          <a:cs typeface="+mn-cs"/>
                        </a:rPr>
                        <a:t>-emotional-speech-audio</a:t>
                      </a:r>
                    </a:p>
                    <a:p>
                      <a:endParaRPr lang="en-US" sz="1800" b="0" kern="1200" dirty="0">
                        <a:solidFill>
                          <a:schemeClr val="bg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kern="1200" dirty="0">
                          <a:solidFill>
                            <a:schemeClr val="bg1"/>
                          </a:solidFill>
                          <a:effectLst/>
                          <a:latin typeface="+mn-lt"/>
                          <a:ea typeface="+mn-ea"/>
                          <a:cs typeface="+mn-cs"/>
                        </a:rPr>
                        <a:t>!pip install </a:t>
                      </a:r>
                      <a:r>
                        <a:rPr lang="en-US" sz="1800" b="0" kern="1200" dirty="0" err="1">
                          <a:solidFill>
                            <a:schemeClr val="bg1"/>
                          </a:solidFill>
                          <a:effectLst/>
                          <a:latin typeface="+mn-lt"/>
                          <a:ea typeface="+mn-ea"/>
                          <a:cs typeface="+mn-cs"/>
                        </a:rPr>
                        <a:t>librosa</a:t>
                      </a:r>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soundfile</a:t>
                      </a:r>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numpy</a:t>
                      </a:r>
                      <a:r>
                        <a:rPr lang="en-US" sz="1800" b="0" kern="1200" dirty="0">
                          <a:solidFill>
                            <a:schemeClr val="bg1"/>
                          </a:solidFill>
                          <a:effectLst/>
                          <a:latin typeface="+mn-lt"/>
                          <a:ea typeface="+mn-ea"/>
                          <a:cs typeface="+mn-cs"/>
                        </a:rPr>
                        <a:t> pandas scikit-learn </a:t>
                      </a:r>
                      <a:r>
                        <a:rPr lang="en-US" sz="1800" b="0" kern="1200" dirty="0" err="1">
                          <a:solidFill>
                            <a:schemeClr val="bg1"/>
                          </a:solidFill>
                          <a:effectLst/>
                          <a:latin typeface="+mn-lt"/>
                          <a:ea typeface="+mn-ea"/>
                          <a:cs typeface="+mn-cs"/>
                        </a:rPr>
                        <a:t>tensorflow</a:t>
                      </a:r>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gradio</a:t>
                      </a:r>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joblib</a:t>
                      </a:r>
                      <a:endParaRPr lang="en-US" sz="1800" b="0" kern="1200" dirty="0">
                        <a:solidFill>
                          <a:schemeClr val="bg1"/>
                        </a:solidFill>
                        <a:effectLst/>
                        <a:latin typeface="+mn-lt"/>
                        <a:ea typeface="+mn-ea"/>
                        <a:cs typeface="+mn-cs"/>
                      </a:endParaRPr>
                    </a:p>
                    <a:p>
                      <a:endParaRPr lang="en-US" sz="1700" dirty="0">
                        <a:solidFill>
                          <a:schemeClr val="bg1"/>
                        </a:solidFill>
                      </a:endParaRPr>
                    </a:p>
                  </a:txBody>
                  <a:tcPr/>
                </a:tc>
                <a:extLst>
                  <a:ext uri="{0D108BD9-81ED-4DB2-BD59-A6C34878D82A}">
                    <a16:rowId xmlns:a16="http://schemas.microsoft.com/office/drawing/2014/main" val="312860857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09129" y="269731"/>
            <a:ext cx="12902327" cy="1371600"/>
          </a:xfrm>
          <a:prstGeom prst="rect">
            <a:avLst/>
          </a:prstGeom>
          <a:noFill/>
          <a:ln/>
        </p:spPr>
        <p:txBody>
          <a:bodyPr wrap="square" lIns="0" tIns="0" rIns="0" bIns="0" rtlCol="0" anchor="t"/>
          <a:lstStyle/>
          <a:p>
            <a:pPr marL="0" indent="0" algn="l">
              <a:lnSpc>
                <a:spcPts val="5400"/>
              </a:lnSpc>
              <a:buNone/>
            </a:pPr>
            <a:r>
              <a:rPr lang="en-US" sz="4200" b="1" dirty="0">
                <a:solidFill>
                  <a:srgbClr val="FFE14D"/>
                </a:solidFill>
                <a:latin typeface="Comfortaa Bold" pitchFamily="34" charset="0"/>
                <a:ea typeface="Comfortaa Bold" pitchFamily="34" charset="-122"/>
                <a:cs typeface="Comfortaa Bold" pitchFamily="34" charset="-120"/>
              </a:rPr>
              <a:t>Deep Learning Architectures </a:t>
            </a:r>
          </a:p>
          <a:p>
            <a:pPr marL="0" indent="0" algn="l">
              <a:lnSpc>
                <a:spcPts val="5400"/>
              </a:lnSpc>
              <a:buNone/>
            </a:pPr>
            <a:r>
              <a:rPr lang="en-US" sz="4200" b="1" dirty="0">
                <a:solidFill>
                  <a:srgbClr val="FFE14D"/>
                </a:solidFill>
                <a:latin typeface="Comfortaa Bold" pitchFamily="34" charset="0"/>
                <a:ea typeface="Comfortaa Bold" pitchFamily="34" charset="-122"/>
                <a:cs typeface="Comfortaa Bold" pitchFamily="34" charset="-120"/>
              </a:rPr>
              <a:t>for Emotion Classification</a:t>
            </a:r>
            <a:endParaRPr lang="en-US" sz="4200" dirty="0"/>
          </a:p>
        </p:txBody>
      </p:sp>
      <p:sp>
        <p:nvSpPr>
          <p:cNvPr id="3" name="Text 1"/>
          <p:cNvSpPr/>
          <p:nvPr/>
        </p:nvSpPr>
        <p:spPr>
          <a:xfrm>
            <a:off x="2141935" y="2611019"/>
            <a:ext cx="2743200" cy="342900"/>
          </a:xfrm>
          <a:prstGeom prst="rect">
            <a:avLst/>
          </a:prstGeom>
          <a:noFill/>
          <a:ln/>
        </p:spPr>
        <p:txBody>
          <a:bodyPr wrap="none" lIns="0" tIns="0" rIns="0" bIns="0" rtlCol="0" anchor="t"/>
          <a:lstStyle/>
          <a:p>
            <a:pPr marL="0" indent="0">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CNNs</a:t>
            </a:r>
            <a:endParaRPr lang="en-US" sz="2150" dirty="0"/>
          </a:p>
        </p:txBody>
      </p:sp>
      <p:sp>
        <p:nvSpPr>
          <p:cNvPr id="4" name="Text 2"/>
          <p:cNvSpPr/>
          <p:nvPr/>
        </p:nvSpPr>
        <p:spPr>
          <a:xfrm>
            <a:off x="1185625" y="3102033"/>
            <a:ext cx="3699510" cy="1296692"/>
          </a:xfrm>
          <a:prstGeom prst="rect">
            <a:avLst/>
          </a:prstGeom>
          <a:noFill/>
          <a:ln/>
        </p:spPr>
        <p:txBody>
          <a:bodyPr wrap="square" lIns="0" tIns="0" rIns="0" bIns="0" rtlCol="0" anchor="t"/>
          <a:lstStyle/>
          <a:p>
            <a:pPr marL="0" indent="0">
              <a:lnSpc>
                <a:spcPts val="3100"/>
              </a:lnSpc>
              <a:buNone/>
            </a:pPr>
            <a:r>
              <a:rPr lang="en-US" sz="1600" dirty="0">
                <a:solidFill>
                  <a:srgbClr val="D7D4CC"/>
                </a:solidFill>
                <a:latin typeface="Raleway Medium" pitchFamily="34" charset="0"/>
                <a:ea typeface="Raleway Medium" pitchFamily="34" charset="-122"/>
                <a:cs typeface="Raleway Medium" pitchFamily="34" charset="-120"/>
              </a:rPr>
              <a:t>Excel at extracting spatial patterns from spectrograms, like identifying key frequency bands</a:t>
            </a:r>
            <a:r>
              <a:rPr lang="en-US" sz="1900" dirty="0">
                <a:solidFill>
                  <a:srgbClr val="D7D4CC"/>
                </a:solidFill>
                <a:latin typeface="Raleway Medium" pitchFamily="34" charset="0"/>
                <a:ea typeface="Raleway Medium" pitchFamily="34" charset="-122"/>
                <a:cs typeface="Raleway Medium" pitchFamily="34" charset="-120"/>
              </a:rPr>
              <a:t>.</a:t>
            </a:r>
            <a:endParaRPr lang="en-US" sz="190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47515" y="2611019"/>
            <a:ext cx="369332" cy="369332"/>
          </a:xfrm>
          <a:prstGeom prst="rect">
            <a:avLst/>
          </a:prstGeom>
        </p:spPr>
      </p:pic>
      <p:sp>
        <p:nvSpPr>
          <p:cNvPr id="7" name="Text 3"/>
          <p:cNvSpPr/>
          <p:nvPr/>
        </p:nvSpPr>
        <p:spPr>
          <a:xfrm>
            <a:off x="2142872" y="4462444"/>
            <a:ext cx="2743200" cy="342900"/>
          </a:xfrm>
          <a:prstGeom prst="rect">
            <a:avLst/>
          </a:prstGeom>
          <a:noFill/>
          <a:ln/>
        </p:spPr>
        <p:txBody>
          <a:bodyPr wrap="none" lIns="0" tIns="0" rIns="0" bIns="0" rtlCol="0" anchor="t"/>
          <a:lstStyle/>
          <a:p>
            <a:pPr marL="0" indent="0" algn="just">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RNNs</a:t>
            </a:r>
            <a:endParaRPr lang="en-US" sz="2150" dirty="0"/>
          </a:p>
        </p:txBody>
      </p:sp>
      <p:sp>
        <p:nvSpPr>
          <p:cNvPr id="8" name="Text 4"/>
          <p:cNvSpPr/>
          <p:nvPr/>
        </p:nvSpPr>
        <p:spPr>
          <a:xfrm>
            <a:off x="1181921" y="4869063"/>
            <a:ext cx="3822978" cy="1185148"/>
          </a:xfrm>
          <a:prstGeom prst="rect">
            <a:avLst/>
          </a:prstGeom>
          <a:noFill/>
          <a:ln/>
        </p:spPr>
        <p:txBody>
          <a:bodyPr wrap="square" lIns="0" tIns="0" rIns="0" bIns="0" rtlCol="0" anchor="t"/>
          <a:lstStyle/>
          <a:p>
            <a:pPr marL="0" indent="0">
              <a:lnSpc>
                <a:spcPts val="3100"/>
              </a:lnSpc>
              <a:buNone/>
            </a:pPr>
            <a:r>
              <a:rPr lang="en-US" sz="1600" dirty="0">
                <a:solidFill>
                  <a:srgbClr val="D7D4CC"/>
                </a:solidFill>
                <a:latin typeface="Raleway Medium" pitchFamily="34" charset="0"/>
                <a:ea typeface="Raleway Medium" pitchFamily="34" charset="-122"/>
                <a:cs typeface="Raleway Medium" pitchFamily="34" charset="-120"/>
              </a:rPr>
              <a:t>Capture temporal dependencies, understanding how emotional expression evolves over time.</a:t>
            </a:r>
            <a:endParaRPr lang="en-US" sz="1600" dirty="0"/>
          </a:p>
        </p:txBody>
      </p:sp>
      <p:pic>
        <p:nvPicPr>
          <p:cNvPr id="10"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78996" y="4381467"/>
            <a:ext cx="369332" cy="369332"/>
          </a:xfrm>
          <a:prstGeom prst="rect">
            <a:avLst/>
          </a:prstGeom>
        </p:spPr>
      </p:pic>
      <p:sp>
        <p:nvSpPr>
          <p:cNvPr id="11" name="Text 5"/>
          <p:cNvSpPr/>
          <p:nvPr/>
        </p:nvSpPr>
        <p:spPr>
          <a:xfrm>
            <a:off x="1663780" y="6129505"/>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Hybrid Models</a:t>
            </a:r>
            <a:endParaRPr lang="en-US" sz="2150" dirty="0"/>
          </a:p>
        </p:txBody>
      </p:sp>
      <p:sp>
        <p:nvSpPr>
          <p:cNvPr id="12" name="Text 6"/>
          <p:cNvSpPr/>
          <p:nvPr/>
        </p:nvSpPr>
        <p:spPr>
          <a:xfrm>
            <a:off x="1185625" y="6524549"/>
            <a:ext cx="3819274" cy="1371601"/>
          </a:xfrm>
          <a:prstGeom prst="rect">
            <a:avLst/>
          </a:prstGeom>
          <a:noFill/>
          <a:ln/>
        </p:spPr>
        <p:txBody>
          <a:bodyPr wrap="square" lIns="0" tIns="0" rIns="0" bIns="0" rtlCol="0" anchor="t"/>
          <a:lstStyle/>
          <a:p>
            <a:pPr marL="0" indent="0">
              <a:lnSpc>
                <a:spcPts val="3100"/>
              </a:lnSpc>
              <a:buNone/>
            </a:pPr>
            <a:r>
              <a:rPr lang="en-US" sz="1600" dirty="0">
                <a:solidFill>
                  <a:srgbClr val="D7D4CC"/>
                </a:solidFill>
                <a:latin typeface="Raleway Medium" pitchFamily="34" charset="0"/>
                <a:ea typeface="Raleway Medium" pitchFamily="34" charset="-122"/>
                <a:cs typeface="Raleway Medium" pitchFamily="34" charset="-120"/>
              </a:rPr>
              <a:t>Combine the strengths of both CNNs and RNNs for superior accuracy in complex emotional landscapes.</a:t>
            </a:r>
            <a:endParaRPr lang="en-US" sz="1600" dirty="0"/>
          </a:p>
        </p:txBody>
      </p:sp>
      <p:pic>
        <p:nvPicPr>
          <p:cNvPr id="14" name="Image 5"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47515" y="5944839"/>
            <a:ext cx="369332" cy="369332"/>
          </a:xfrm>
          <a:prstGeom prst="rect">
            <a:avLst/>
          </a:prstGeom>
        </p:spPr>
      </p:pic>
      <p:pic>
        <p:nvPicPr>
          <p:cNvPr id="17" name="Picture 16">
            <a:extLst>
              <a:ext uri="{FF2B5EF4-FFF2-40B4-BE49-F238E27FC236}">
                <a16:creationId xmlns:a16="http://schemas.microsoft.com/office/drawing/2014/main" id="{AE3FEBA3-A450-E52C-2F39-A77A3492C2C6}"/>
              </a:ext>
            </a:extLst>
          </p:cNvPr>
          <p:cNvPicPr>
            <a:picLocks noChangeAspect="1"/>
          </p:cNvPicPr>
          <p:nvPr/>
        </p:nvPicPr>
        <p:blipFill>
          <a:blip r:embed="rId9"/>
          <a:stretch>
            <a:fillRect/>
          </a:stretch>
        </p:blipFill>
        <p:spPr>
          <a:xfrm>
            <a:off x="8321040" y="0"/>
            <a:ext cx="6309360" cy="8229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3043" y="420410"/>
            <a:ext cx="7430810" cy="423029"/>
          </a:xfrm>
          <a:prstGeom prst="rect">
            <a:avLst/>
          </a:prstGeom>
          <a:noFill/>
          <a:ln/>
        </p:spPr>
        <p:txBody>
          <a:bodyPr wrap="none" lIns="0" tIns="0" rIns="0" bIns="0" rtlCol="0" anchor="t"/>
          <a:lstStyle/>
          <a:p>
            <a:pPr>
              <a:lnSpc>
                <a:spcPts val="3300"/>
              </a:lnSpc>
            </a:pPr>
            <a:r>
              <a:rPr lang="en-US" sz="2650" b="1" dirty="0">
                <a:solidFill>
                  <a:srgbClr val="FFE14D"/>
                </a:solidFill>
                <a:latin typeface="Comfortaa Bold" pitchFamily="34" charset="0"/>
                <a:ea typeface="Comfortaa Bold" pitchFamily="34" charset="-122"/>
                <a:cs typeface="Comfortaa Bold" pitchFamily="34" charset="-120"/>
              </a:rPr>
              <a:t>Code Snippet: </a:t>
            </a:r>
            <a:r>
              <a:rPr lang="en-US" sz="2800" dirty="0">
                <a:solidFill>
                  <a:srgbClr val="FFFF00"/>
                </a:solidFill>
                <a:latin typeface="Comfortaa Bold"/>
              </a:rPr>
              <a:t>TensorFlow/</a:t>
            </a:r>
            <a:r>
              <a:rPr lang="en-US" sz="2800" dirty="0" err="1">
                <a:solidFill>
                  <a:srgbClr val="FFFF00"/>
                </a:solidFill>
                <a:latin typeface="Comfortaa Bold"/>
              </a:rPr>
              <a:t>Keras</a:t>
            </a:r>
            <a:r>
              <a:rPr lang="en-US" sz="2650" b="1" dirty="0">
                <a:solidFill>
                  <a:srgbClr val="FFFF00"/>
                </a:solidFill>
                <a:latin typeface="Comfortaa Bold" pitchFamily="34" charset="0"/>
                <a:ea typeface="Comfortaa Bold" pitchFamily="34" charset="-122"/>
                <a:cs typeface="Comfortaa Bold" pitchFamily="34" charset="-120"/>
              </a:rPr>
              <a:t> </a:t>
            </a:r>
            <a:r>
              <a:rPr lang="en-US" sz="2650" b="1" dirty="0">
                <a:solidFill>
                  <a:srgbClr val="FFE14D"/>
                </a:solidFill>
                <a:latin typeface="Comfortaa Bold" pitchFamily="34" charset="0"/>
                <a:ea typeface="Comfortaa Bold" pitchFamily="34" charset="-122"/>
                <a:cs typeface="Comfortaa Bold" pitchFamily="34" charset="-120"/>
              </a:rPr>
              <a:t>Model Architecture</a:t>
            </a:r>
            <a:endParaRPr lang="en-US" sz="2650" dirty="0"/>
          </a:p>
        </p:txBody>
      </p:sp>
      <p:sp>
        <p:nvSpPr>
          <p:cNvPr id="3" name="Text 1"/>
          <p:cNvSpPr/>
          <p:nvPr/>
        </p:nvSpPr>
        <p:spPr>
          <a:xfrm>
            <a:off x="533043" y="1148001"/>
            <a:ext cx="13564314" cy="487204"/>
          </a:xfrm>
          <a:prstGeom prst="rect">
            <a:avLst/>
          </a:prstGeom>
          <a:noFill/>
          <a:ln/>
        </p:spPr>
        <p:txBody>
          <a:bodyPr wrap="squar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This placeholder is for the Python code defining a sample CNN or RNN model architecture in PyTorch, suitable for speech emotion recognition. It will typically include convolutional layers, pooling layers, and recurrent layers if applicable, followed by fully connected layers.</a:t>
            </a:r>
            <a:endParaRPr lang="en-US" sz="1150" dirty="0"/>
          </a:p>
        </p:txBody>
      </p:sp>
      <p:sp>
        <p:nvSpPr>
          <p:cNvPr id="4" name="Shape 2"/>
          <p:cNvSpPr/>
          <p:nvPr/>
        </p:nvSpPr>
        <p:spPr>
          <a:xfrm>
            <a:off x="533043" y="1806535"/>
            <a:ext cx="13564314" cy="5587603"/>
          </a:xfrm>
          <a:prstGeom prst="roundRect">
            <a:avLst>
              <a:gd name="adj" fmla="val 4089"/>
            </a:avLst>
          </a:prstGeom>
          <a:solidFill>
            <a:srgbClr val="343438"/>
          </a:solidFill>
          <a:ln/>
        </p:spPr>
      </p:sp>
      <p:sp>
        <p:nvSpPr>
          <p:cNvPr id="5" name="Shape 3"/>
          <p:cNvSpPr/>
          <p:nvPr/>
        </p:nvSpPr>
        <p:spPr>
          <a:xfrm>
            <a:off x="0" y="1806534"/>
            <a:ext cx="14630400" cy="6423065"/>
          </a:xfrm>
          <a:prstGeom prst="roundRect">
            <a:avLst>
              <a:gd name="adj" fmla="val 409"/>
            </a:avLst>
          </a:prstGeom>
          <a:solidFill>
            <a:srgbClr val="343438"/>
          </a:solidFill>
          <a:ln/>
        </p:spPr>
      </p:sp>
      <p:sp>
        <p:nvSpPr>
          <p:cNvPr id="6" name="Text 4"/>
          <p:cNvSpPr/>
          <p:nvPr/>
        </p:nvSpPr>
        <p:spPr>
          <a:xfrm>
            <a:off x="677823" y="1920716"/>
            <a:ext cx="13274754" cy="5359241"/>
          </a:xfrm>
          <a:prstGeom prst="rect">
            <a:avLst/>
          </a:prstGeom>
          <a:noFill/>
          <a:ln/>
        </p:spPr>
        <p:txBody>
          <a:bodyPr wrap="square" lIns="0" tIns="0" rIns="0" bIns="0" rtlCol="0" anchor="t"/>
          <a:lstStyle/>
          <a:p>
            <a:pPr marL="0" indent="0" algn="l">
              <a:lnSpc>
                <a:spcPts val="1900"/>
              </a:lnSpc>
              <a:buNone/>
            </a:pPr>
            <a:endParaRPr lang="en-US" sz="1150" dirty="0"/>
          </a:p>
        </p:txBody>
      </p:sp>
      <p:sp>
        <p:nvSpPr>
          <p:cNvPr id="7" name="Text 5"/>
          <p:cNvSpPr/>
          <p:nvPr/>
        </p:nvSpPr>
        <p:spPr>
          <a:xfrm>
            <a:off x="533043" y="7565469"/>
            <a:ext cx="13564314" cy="243602"/>
          </a:xfrm>
          <a:prstGeom prst="rect">
            <a:avLst/>
          </a:prstGeom>
          <a:noFill/>
          <a:ln/>
        </p:spPr>
        <p:txBody>
          <a:bodyPr wrap="none" lIns="0" tIns="0" rIns="0" bIns="0" rtlCol="0" anchor="t"/>
          <a:lstStyle/>
          <a:p>
            <a:pPr marL="0" indent="0" algn="l">
              <a:lnSpc>
                <a:spcPts val="1900"/>
              </a:lnSpc>
              <a:buNone/>
            </a:pPr>
            <a:r>
              <a:rPr lang="en-US" sz="1150" dirty="0">
                <a:solidFill>
                  <a:srgbClr val="D7D4CC"/>
                </a:solidFill>
                <a:latin typeface="Raleway Medium" pitchFamily="34" charset="0"/>
                <a:ea typeface="Raleway Medium" pitchFamily="34" charset="-122"/>
                <a:cs typeface="Raleway Medium" pitchFamily="34" charset="-120"/>
              </a:rPr>
              <a:t>.</a:t>
            </a:r>
            <a:endParaRPr lang="en-US" sz="1150" dirty="0"/>
          </a:p>
        </p:txBody>
      </p:sp>
      <p:graphicFrame>
        <p:nvGraphicFramePr>
          <p:cNvPr id="8" name="Table 7">
            <a:extLst>
              <a:ext uri="{FF2B5EF4-FFF2-40B4-BE49-F238E27FC236}">
                <a16:creationId xmlns:a16="http://schemas.microsoft.com/office/drawing/2014/main" id="{D7CE29A5-EF7D-3086-E564-EF824ABDC756}"/>
              </a:ext>
            </a:extLst>
          </p:cNvPr>
          <p:cNvGraphicFramePr>
            <a:graphicFrameLocks noGrp="1"/>
          </p:cNvGraphicFramePr>
          <p:nvPr>
            <p:extLst>
              <p:ext uri="{D42A27DB-BD31-4B8C-83A1-F6EECF244321}">
                <p14:modId xmlns:p14="http://schemas.microsoft.com/office/powerpoint/2010/main" val="1212039079"/>
              </p:ext>
            </p:extLst>
          </p:nvPr>
        </p:nvGraphicFramePr>
        <p:xfrm>
          <a:off x="0" y="1806534"/>
          <a:ext cx="14630400" cy="6423066"/>
        </p:xfrm>
        <a:graphic>
          <a:graphicData uri="http://schemas.openxmlformats.org/drawingml/2006/table">
            <a:tbl>
              <a:tblPr firstRow="1" bandRow="1">
                <a:tableStyleId>{5940675A-B579-460E-94D1-54222C63F5DA}</a:tableStyleId>
              </a:tblPr>
              <a:tblGrid>
                <a:gridCol w="7315200">
                  <a:extLst>
                    <a:ext uri="{9D8B030D-6E8A-4147-A177-3AD203B41FA5}">
                      <a16:colId xmlns:a16="http://schemas.microsoft.com/office/drawing/2014/main" val="629851524"/>
                    </a:ext>
                  </a:extLst>
                </a:gridCol>
                <a:gridCol w="7315200">
                  <a:extLst>
                    <a:ext uri="{9D8B030D-6E8A-4147-A177-3AD203B41FA5}">
                      <a16:colId xmlns:a16="http://schemas.microsoft.com/office/drawing/2014/main" val="3104587063"/>
                    </a:ext>
                  </a:extLst>
                </a:gridCol>
              </a:tblGrid>
              <a:tr h="6423066">
                <a:tc>
                  <a:txBody>
                    <a:bodyPr/>
                    <a:lstStyle/>
                    <a:p>
                      <a:r>
                        <a:rPr lang="en-US" sz="1800" b="0" kern="1200" dirty="0">
                          <a:solidFill>
                            <a:schemeClr val="bg1"/>
                          </a:solidFill>
                          <a:effectLst/>
                          <a:latin typeface="+mn-lt"/>
                          <a:ea typeface="+mn-ea"/>
                          <a:cs typeface="+mn-cs"/>
                        </a:rPr>
                        <a:t>#CNN MODEL</a:t>
                      </a:r>
                    </a:p>
                    <a:p>
                      <a:r>
                        <a:rPr lang="en-US" sz="1800" b="0" kern="1200" dirty="0">
                          <a:solidFill>
                            <a:schemeClr val="bg1"/>
                          </a:solidFill>
                          <a:effectLst/>
                          <a:latin typeface="+mn-lt"/>
                          <a:ea typeface="+mn-ea"/>
                          <a:cs typeface="+mn-cs"/>
                        </a:rPr>
                        <a:t>model = Sequential([</a:t>
                      </a:r>
                    </a:p>
                    <a:p>
                      <a:r>
                        <a:rPr lang="en-US" sz="1800" b="0" kern="1200" dirty="0">
                          <a:solidFill>
                            <a:schemeClr val="bg1"/>
                          </a:solidFill>
                          <a:effectLst/>
                          <a:latin typeface="+mn-lt"/>
                          <a:ea typeface="+mn-ea"/>
                          <a:cs typeface="+mn-cs"/>
                        </a:rPr>
                        <a:t>    Conv1D(64, 5, activation='</a:t>
                      </a:r>
                      <a:r>
                        <a:rPr lang="en-US" sz="1800" b="0" kern="1200" dirty="0" err="1">
                          <a:solidFill>
                            <a:schemeClr val="bg1"/>
                          </a:solidFill>
                          <a:effectLst/>
                          <a:latin typeface="+mn-lt"/>
                          <a:ea typeface="+mn-ea"/>
                          <a:cs typeface="+mn-cs"/>
                        </a:rPr>
                        <a:t>relu</a:t>
                      </a:r>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input_shape</a:t>
                      </a:r>
                      <a:r>
                        <a:rPr lang="en-US" sz="1800" b="0" kern="1200" dirty="0">
                          <a:solidFill>
                            <a:schemeClr val="bg1"/>
                          </a:solidFill>
                          <a:effectLst/>
                          <a:latin typeface="+mn-lt"/>
                          <a:ea typeface="+mn-ea"/>
                          <a:cs typeface="+mn-cs"/>
                        </a:rPr>
                        <a:t>=(</a:t>
                      </a:r>
                      <a:r>
                        <a:rPr lang="en-US" sz="1800" b="0" kern="1200" dirty="0" err="1">
                          <a:solidFill>
                            <a:schemeClr val="bg1"/>
                          </a:solidFill>
                          <a:effectLst/>
                          <a:latin typeface="+mn-lt"/>
                          <a:ea typeface="+mn-ea"/>
                          <a:cs typeface="+mn-cs"/>
                        </a:rPr>
                        <a:t>max_pad_len</a:t>
                      </a:r>
                      <a:r>
                        <a:rPr lang="en-US" sz="1800" b="0" kern="1200" dirty="0">
                          <a:solidFill>
                            <a:schemeClr val="bg1"/>
                          </a:solidFill>
                          <a:effectLst/>
                          <a:latin typeface="+mn-lt"/>
                          <a:ea typeface="+mn-ea"/>
                          <a:cs typeface="+mn-cs"/>
                        </a:rPr>
                        <a:t>, N_MFCC)),</a:t>
                      </a:r>
                    </a:p>
                    <a:p>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BatchNormalization</a:t>
                      </a:r>
                      <a:r>
                        <a:rPr lang="en-US" sz="1800" b="0" kern="1200" dirty="0">
                          <a:solidFill>
                            <a:schemeClr val="bg1"/>
                          </a:solidFill>
                          <a:effectLst/>
                          <a:latin typeface="+mn-lt"/>
                          <a:ea typeface="+mn-ea"/>
                          <a:cs typeface="+mn-cs"/>
                        </a:rPr>
                        <a:t>(),</a:t>
                      </a:r>
                    </a:p>
                    <a:p>
                      <a:r>
                        <a:rPr lang="en-US" sz="1800" b="0" kern="1200" dirty="0">
                          <a:solidFill>
                            <a:schemeClr val="bg1"/>
                          </a:solidFill>
                          <a:effectLst/>
                          <a:latin typeface="+mn-lt"/>
                          <a:ea typeface="+mn-ea"/>
                          <a:cs typeface="+mn-cs"/>
                        </a:rPr>
                        <a:t>    MaxPooling1D(2),</a:t>
                      </a:r>
                    </a:p>
                    <a:p>
                      <a:r>
                        <a:rPr lang="en-US" sz="1800" b="0" kern="1200" dirty="0">
                          <a:solidFill>
                            <a:schemeClr val="bg1"/>
                          </a:solidFill>
                          <a:effectLst/>
                          <a:latin typeface="+mn-lt"/>
                          <a:ea typeface="+mn-ea"/>
                          <a:cs typeface="+mn-cs"/>
                        </a:rPr>
                        <a:t>    Dropout(0.3),</a:t>
                      </a:r>
                    </a:p>
                    <a:p>
                      <a:br>
                        <a:rPr lang="en-US" sz="1800" b="0" kern="1200" dirty="0">
                          <a:solidFill>
                            <a:schemeClr val="bg1"/>
                          </a:solidFill>
                          <a:effectLst/>
                          <a:latin typeface="+mn-lt"/>
                          <a:ea typeface="+mn-ea"/>
                          <a:cs typeface="+mn-cs"/>
                        </a:rPr>
                      </a:br>
                      <a:endParaRPr lang="en-US" sz="1800" b="0" kern="1200" dirty="0">
                        <a:solidFill>
                          <a:schemeClr val="bg1"/>
                        </a:solidFill>
                        <a:effectLst/>
                        <a:latin typeface="+mn-lt"/>
                        <a:ea typeface="+mn-ea"/>
                        <a:cs typeface="+mn-cs"/>
                      </a:endParaRPr>
                    </a:p>
                    <a:p>
                      <a:r>
                        <a:rPr lang="en-US" sz="1800" b="0" kern="1200" dirty="0">
                          <a:solidFill>
                            <a:schemeClr val="bg1"/>
                          </a:solidFill>
                          <a:effectLst/>
                          <a:latin typeface="+mn-lt"/>
                          <a:ea typeface="+mn-ea"/>
                          <a:cs typeface="+mn-cs"/>
                        </a:rPr>
                        <a:t>    Conv1D(128, 5, activation='</a:t>
                      </a:r>
                      <a:r>
                        <a:rPr lang="en-US" sz="1800" b="0" kern="1200" dirty="0" err="1">
                          <a:solidFill>
                            <a:schemeClr val="bg1"/>
                          </a:solidFill>
                          <a:effectLst/>
                          <a:latin typeface="+mn-lt"/>
                          <a:ea typeface="+mn-ea"/>
                          <a:cs typeface="+mn-cs"/>
                        </a:rPr>
                        <a:t>relu</a:t>
                      </a:r>
                      <a:r>
                        <a:rPr lang="en-US" sz="1800" b="0" kern="1200" dirty="0">
                          <a:solidFill>
                            <a:schemeClr val="bg1"/>
                          </a:solidFill>
                          <a:effectLst/>
                          <a:latin typeface="+mn-lt"/>
                          <a:ea typeface="+mn-ea"/>
                          <a:cs typeface="+mn-cs"/>
                        </a:rPr>
                        <a:t>'),</a:t>
                      </a:r>
                    </a:p>
                    <a:p>
                      <a:r>
                        <a:rPr lang="en-US" sz="1800" b="0" kern="1200" dirty="0">
                          <a:solidFill>
                            <a:schemeClr val="bg1"/>
                          </a:solidFill>
                          <a:effectLst/>
                          <a:latin typeface="+mn-lt"/>
                          <a:ea typeface="+mn-ea"/>
                          <a:cs typeface="+mn-cs"/>
                        </a:rPr>
                        <a:t>    </a:t>
                      </a:r>
                      <a:r>
                        <a:rPr lang="en-US" sz="1800" b="0" kern="1200" dirty="0" err="1">
                          <a:solidFill>
                            <a:schemeClr val="bg1"/>
                          </a:solidFill>
                          <a:effectLst/>
                          <a:latin typeface="+mn-lt"/>
                          <a:ea typeface="+mn-ea"/>
                          <a:cs typeface="+mn-cs"/>
                        </a:rPr>
                        <a:t>BatchNormalization</a:t>
                      </a:r>
                      <a:r>
                        <a:rPr lang="en-US" sz="1800" b="0" kern="1200" dirty="0">
                          <a:solidFill>
                            <a:schemeClr val="bg1"/>
                          </a:solidFill>
                          <a:effectLst/>
                          <a:latin typeface="+mn-lt"/>
                          <a:ea typeface="+mn-ea"/>
                          <a:cs typeface="+mn-cs"/>
                        </a:rPr>
                        <a:t>(),</a:t>
                      </a:r>
                    </a:p>
                    <a:p>
                      <a:r>
                        <a:rPr lang="en-US" sz="1800" b="0" kern="1200" dirty="0">
                          <a:solidFill>
                            <a:schemeClr val="bg1"/>
                          </a:solidFill>
                          <a:effectLst/>
                          <a:latin typeface="+mn-lt"/>
                          <a:ea typeface="+mn-ea"/>
                          <a:cs typeface="+mn-cs"/>
                        </a:rPr>
                        <a:t>    MaxPooling1D(2),</a:t>
                      </a:r>
                    </a:p>
                    <a:p>
                      <a:r>
                        <a:rPr lang="en-US" sz="1800" b="0" kern="1200" dirty="0">
                          <a:solidFill>
                            <a:schemeClr val="bg1"/>
                          </a:solidFill>
                          <a:effectLst/>
                          <a:latin typeface="+mn-lt"/>
                          <a:ea typeface="+mn-ea"/>
                          <a:cs typeface="+mn-cs"/>
                        </a:rPr>
                        <a:t>    Dropout(0.3),</a:t>
                      </a:r>
                    </a:p>
                    <a:p>
                      <a:br>
                        <a:rPr lang="en-US" sz="1800" b="0" kern="1200" dirty="0">
                          <a:solidFill>
                            <a:schemeClr val="bg1"/>
                          </a:solidFill>
                          <a:effectLst/>
                          <a:latin typeface="+mn-lt"/>
                          <a:ea typeface="+mn-ea"/>
                          <a:cs typeface="+mn-cs"/>
                        </a:rPr>
                      </a:br>
                      <a:endParaRPr lang="en-US" sz="1800" b="0" kern="1200" dirty="0">
                        <a:solidFill>
                          <a:schemeClr val="bg1"/>
                        </a:solidFill>
                        <a:effectLst/>
                        <a:latin typeface="+mn-lt"/>
                        <a:ea typeface="+mn-ea"/>
                        <a:cs typeface="+mn-cs"/>
                      </a:endParaRPr>
                    </a:p>
                    <a:p>
                      <a:r>
                        <a:rPr lang="en-US" sz="1800" b="0" kern="1200" dirty="0">
                          <a:solidFill>
                            <a:schemeClr val="bg1"/>
                          </a:solidFill>
                          <a:effectLst/>
                          <a:latin typeface="+mn-lt"/>
                          <a:ea typeface="+mn-ea"/>
                          <a:cs typeface="+mn-cs"/>
                        </a:rPr>
                        <a:t>    Flatten(),</a:t>
                      </a:r>
                    </a:p>
                    <a:p>
                      <a:r>
                        <a:rPr lang="en-US" sz="1800" b="0" kern="1200" dirty="0">
                          <a:solidFill>
                            <a:schemeClr val="bg1"/>
                          </a:solidFill>
                          <a:effectLst/>
                          <a:latin typeface="+mn-lt"/>
                          <a:ea typeface="+mn-ea"/>
                          <a:cs typeface="+mn-cs"/>
                        </a:rPr>
                        <a:t>    Dense(128, activation='</a:t>
                      </a:r>
                      <a:r>
                        <a:rPr lang="en-US" sz="1800" b="0" kern="1200" dirty="0" err="1">
                          <a:solidFill>
                            <a:schemeClr val="bg1"/>
                          </a:solidFill>
                          <a:effectLst/>
                          <a:latin typeface="+mn-lt"/>
                          <a:ea typeface="+mn-ea"/>
                          <a:cs typeface="+mn-cs"/>
                        </a:rPr>
                        <a:t>relu</a:t>
                      </a:r>
                      <a:r>
                        <a:rPr lang="en-US" sz="1800" b="0" kern="1200" dirty="0">
                          <a:solidFill>
                            <a:schemeClr val="bg1"/>
                          </a:solidFill>
                          <a:effectLst/>
                          <a:latin typeface="+mn-lt"/>
                          <a:ea typeface="+mn-ea"/>
                          <a:cs typeface="+mn-cs"/>
                        </a:rPr>
                        <a:t>'),</a:t>
                      </a:r>
                    </a:p>
                    <a:p>
                      <a:r>
                        <a:rPr lang="en-US" sz="1800" b="0" kern="1200" dirty="0">
                          <a:solidFill>
                            <a:schemeClr val="bg1"/>
                          </a:solidFill>
                          <a:effectLst/>
                          <a:latin typeface="+mn-lt"/>
                          <a:ea typeface="+mn-ea"/>
                          <a:cs typeface="+mn-cs"/>
                        </a:rPr>
                        <a:t>    Dropout(0.4),</a:t>
                      </a:r>
                    </a:p>
                    <a:p>
                      <a:r>
                        <a:rPr lang="en-US" sz="1800" b="0" kern="1200" dirty="0">
                          <a:solidFill>
                            <a:schemeClr val="bg1"/>
                          </a:solidFill>
                          <a:effectLst/>
                          <a:latin typeface="+mn-lt"/>
                          <a:ea typeface="+mn-ea"/>
                          <a:cs typeface="+mn-cs"/>
                        </a:rPr>
                        <a:t>    Dense(</a:t>
                      </a:r>
                      <a:r>
                        <a:rPr lang="en-US" sz="1800" b="0" kern="1200" dirty="0" err="1">
                          <a:solidFill>
                            <a:schemeClr val="bg1"/>
                          </a:solidFill>
                          <a:effectLst/>
                          <a:latin typeface="+mn-lt"/>
                          <a:ea typeface="+mn-ea"/>
                          <a:cs typeface="+mn-cs"/>
                        </a:rPr>
                        <a:t>y_onehot.shape</a:t>
                      </a:r>
                      <a:r>
                        <a:rPr lang="en-US" sz="1800" b="0" kern="1200" dirty="0">
                          <a:solidFill>
                            <a:schemeClr val="bg1"/>
                          </a:solidFill>
                          <a:effectLst/>
                          <a:latin typeface="+mn-lt"/>
                          <a:ea typeface="+mn-ea"/>
                          <a:cs typeface="+mn-cs"/>
                        </a:rPr>
                        <a:t>[1], activation='</a:t>
                      </a:r>
                      <a:r>
                        <a:rPr lang="en-US" sz="1800" b="0" kern="1200" dirty="0" err="1">
                          <a:solidFill>
                            <a:schemeClr val="bg1"/>
                          </a:solidFill>
                          <a:effectLst/>
                          <a:latin typeface="+mn-lt"/>
                          <a:ea typeface="+mn-ea"/>
                          <a:cs typeface="+mn-cs"/>
                        </a:rPr>
                        <a:t>softmax</a:t>
                      </a:r>
                      <a:r>
                        <a:rPr lang="en-US" sz="1800" b="0" kern="1200" dirty="0">
                          <a:solidFill>
                            <a:schemeClr val="bg1"/>
                          </a:solidFill>
                          <a:effectLst/>
                          <a:latin typeface="+mn-lt"/>
                          <a:ea typeface="+mn-ea"/>
                          <a:cs typeface="+mn-cs"/>
                        </a:rPr>
                        <a:t>')</a:t>
                      </a:r>
                    </a:p>
                    <a:p>
                      <a:r>
                        <a:rPr lang="en-US" sz="1800" b="0" kern="1200" dirty="0">
                          <a:solidFill>
                            <a:schemeClr val="bg1"/>
                          </a:solidFill>
                          <a:effectLst/>
                          <a:latin typeface="+mn-lt"/>
                          <a:ea typeface="+mn-ea"/>
                          <a:cs typeface="+mn-cs"/>
                        </a:rPr>
                        <a:t>])</a:t>
                      </a:r>
                    </a:p>
                    <a:p>
                      <a:endParaRPr lang="en-US" dirty="0"/>
                    </a:p>
                  </a:txBody>
                  <a:tcPr/>
                </a:tc>
                <a:tc>
                  <a:txBody>
                    <a:bodyPr/>
                    <a:lstStyle/>
                    <a:p>
                      <a:r>
                        <a:rPr lang="en-US" sz="1800" b="0" kern="1200" dirty="0">
                          <a:solidFill>
                            <a:schemeClr val="bg1"/>
                          </a:solidFill>
                          <a:effectLst/>
                          <a:latin typeface="+mn-lt"/>
                          <a:ea typeface="+mn-ea"/>
                          <a:cs typeface="+mn-cs"/>
                        </a:rPr>
                        <a:t>    </a:t>
                      </a:r>
                    </a:p>
                  </a:txBody>
                  <a:tcPr/>
                </a:tc>
                <a:extLst>
                  <a:ext uri="{0D108BD9-81ED-4DB2-BD59-A6C34878D82A}">
                    <a16:rowId xmlns:a16="http://schemas.microsoft.com/office/drawing/2014/main" val="1436847897"/>
                  </a:ext>
                </a:extLst>
              </a:tr>
            </a:tbl>
          </a:graphicData>
        </a:graphic>
      </p:graphicFrame>
      <p:pic>
        <p:nvPicPr>
          <p:cNvPr id="10" name="Picture 9" descr="A close-up of a computer screen">
            <a:extLst>
              <a:ext uri="{FF2B5EF4-FFF2-40B4-BE49-F238E27FC236}">
                <a16:creationId xmlns:a16="http://schemas.microsoft.com/office/drawing/2014/main" id="{C6DDCD7E-7EE4-6B6C-74BF-1BA5D8D15014}"/>
              </a:ext>
            </a:extLst>
          </p:cNvPr>
          <p:cNvPicPr>
            <a:picLocks noChangeAspect="1"/>
          </p:cNvPicPr>
          <p:nvPr/>
        </p:nvPicPr>
        <p:blipFill>
          <a:blip r:embed="rId3"/>
          <a:stretch>
            <a:fillRect/>
          </a:stretch>
        </p:blipFill>
        <p:spPr>
          <a:xfrm>
            <a:off x="7315200" y="6035040"/>
            <a:ext cx="7166967" cy="2194559"/>
          </a:xfrm>
          <a:prstGeom prst="rect">
            <a:avLst/>
          </a:prstGeom>
        </p:spPr>
      </p:pic>
      <p:pic>
        <p:nvPicPr>
          <p:cNvPr id="12" name="Picture 11" descr="A diagram of a blue box&#10;&#10;AI-generated content may be incorrect.">
            <a:extLst>
              <a:ext uri="{FF2B5EF4-FFF2-40B4-BE49-F238E27FC236}">
                <a16:creationId xmlns:a16="http://schemas.microsoft.com/office/drawing/2014/main" id="{F5EB8C3E-1C91-48FB-0964-72AF22E856CE}"/>
              </a:ext>
            </a:extLst>
          </p:cNvPr>
          <p:cNvPicPr>
            <a:picLocks noChangeAspect="1"/>
          </p:cNvPicPr>
          <p:nvPr/>
        </p:nvPicPr>
        <p:blipFill>
          <a:blip r:embed="rId4"/>
          <a:stretch>
            <a:fillRect/>
          </a:stretch>
        </p:blipFill>
        <p:spPr>
          <a:xfrm>
            <a:off x="7315200" y="1800165"/>
            <a:ext cx="7297280" cy="4343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90C0CB7-F859-69C4-CBE4-80AB0FE1DE57}"/>
              </a:ext>
            </a:extLst>
          </p:cNvPr>
          <p:cNvGraphicFramePr>
            <a:graphicFrameLocks noGrp="1"/>
          </p:cNvGraphicFramePr>
          <p:nvPr>
            <p:extLst>
              <p:ext uri="{D42A27DB-BD31-4B8C-83A1-F6EECF244321}">
                <p14:modId xmlns:p14="http://schemas.microsoft.com/office/powerpoint/2010/main" val="2670081616"/>
              </p:ext>
            </p:extLst>
          </p:nvPr>
        </p:nvGraphicFramePr>
        <p:xfrm>
          <a:off x="201828" y="604109"/>
          <a:ext cx="9753600" cy="1036320"/>
        </p:xfrm>
        <a:graphic>
          <a:graphicData uri="http://schemas.openxmlformats.org/drawingml/2006/table">
            <a:tbl>
              <a:tblPr firstRow="1" bandRow="1">
                <a:tableStyleId>{2D5ABB26-0587-4C30-8999-92F81FD0307C}</a:tableStyleId>
              </a:tblPr>
              <a:tblGrid>
                <a:gridCol w="9753600">
                  <a:extLst>
                    <a:ext uri="{9D8B030D-6E8A-4147-A177-3AD203B41FA5}">
                      <a16:colId xmlns:a16="http://schemas.microsoft.com/office/drawing/2014/main" val="3780135944"/>
                    </a:ext>
                  </a:extLst>
                </a:gridCol>
              </a:tblGrid>
              <a:tr h="9404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400" b="1" dirty="0">
                          <a:solidFill>
                            <a:srgbClr val="FFE14D"/>
                          </a:solidFill>
                        </a:rPr>
                        <a:t>OUTPUTS</a:t>
                      </a:r>
                      <a:endParaRPr lang="en-US" sz="4400" b="1" dirty="0"/>
                    </a:p>
                    <a:p>
                      <a:endParaRPr lang="en-US" dirty="0"/>
                    </a:p>
                  </a:txBody>
                  <a:tcPr/>
                </a:tc>
                <a:extLst>
                  <a:ext uri="{0D108BD9-81ED-4DB2-BD59-A6C34878D82A}">
                    <a16:rowId xmlns:a16="http://schemas.microsoft.com/office/drawing/2014/main" val="518200497"/>
                  </a:ext>
                </a:extLst>
              </a:tr>
            </a:tbl>
          </a:graphicData>
        </a:graphic>
      </p:graphicFrame>
      <p:graphicFrame>
        <p:nvGraphicFramePr>
          <p:cNvPr id="3" name="Table 2">
            <a:extLst>
              <a:ext uri="{FF2B5EF4-FFF2-40B4-BE49-F238E27FC236}">
                <a16:creationId xmlns:a16="http://schemas.microsoft.com/office/drawing/2014/main" id="{798CDB57-71CE-D1EC-C6E1-C385BDCB104F}"/>
              </a:ext>
            </a:extLst>
          </p:cNvPr>
          <p:cNvGraphicFramePr>
            <a:graphicFrameLocks noGrp="1"/>
          </p:cNvGraphicFramePr>
          <p:nvPr>
            <p:extLst>
              <p:ext uri="{D42A27DB-BD31-4B8C-83A1-F6EECF244321}">
                <p14:modId xmlns:p14="http://schemas.microsoft.com/office/powerpoint/2010/main" val="4233478499"/>
              </p:ext>
            </p:extLst>
          </p:nvPr>
        </p:nvGraphicFramePr>
        <p:xfrm>
          <a:off x="2438400" y="863600"/>
          <a:ext cx="9753600" cy="370840"/>
        </p:xfrm>
        <a:graphic>
          <a:graphicData uri="http://schemas.openxmlformats.org/drawingml/2006/table">
            <a:tbl>
              <a:tblPr firstRow="1" bandRow="1">
                <a:tableStyleId>{2D5ABB26-0587-4C30-8999-92F81FD0307C}</a:tableStyleId>
              </a:tblPr>
              <a:tblGrid>
                <a:gridCol w="9753600">
                  <a:extLst>
                    <a:ext uri="{9D8B030D-6E8A-4147-A177-3AD203B41FA5}">
                      <a16:colId xmlns:a16="http://schemas.microsoft.com/office/drawing/2014/main" val="402782019"/>
                    </a:ext>
                  </a:extLst>
                </a:gridCol>
              </a:tblGrid>
              <a:tr h="370840">
                <a:tc>
                  <a:txBody>
                    <a:bodyPr/>
                    <a:lstStyle/>
                    <a:p>
                      <a:endParaRPr lang="en-US" dirty="0"/>
                    </a:p>
                  </a:txBody>
                  <a:tcPr/>
                </a:tc>
                <a:extLst>
                  <a:ext uri="{0D108BD9-81ED-4DB2-BD59-A6C34878D82A}">
                    <a16:rowId xmlns:a16="http://schemas.microsoft.com/office/drawing/2014/main" val="3896390371"/>
                  </a:ext>
                </a:extLst>
              </a:tr>
            </a:tbl>
          </a:graphicData>
        </a:graphic>
      </p:graphicFrame>
      <p:pic>
        <p:nvPicPr>
          <p:cNvPr id="7" name="Picture 6">
            <a:extLst>
              <a:ext uri="{FF2B5EF4-FFF2-40B4-BE49-F238E27FC236}">
                <a16:creationId xmlns:a16="http://schemas.microsoft.com/office/drawing/2014/main" id="{EABF769F-A626-407F-896E-475314A98558}"/>
              </a:ext>
            </a:extLst>
          </p:cNvPr>
          <p:cNvPicPr>
            <a:picLocks noChangeAspect="1"/>
          </p:cNvPicPr>
          <p:nvPr/>
        </p:nvPicPr>
        <p:blipFill>
          <a:blip r:embed="rId2"/>
          <a:stretch>
            <a:fillRect/>
          </a:stretch>
        </p:blipFill>
        <p:spPr>
          <a:xfrm>
            <a:off x="0" y="2228012"/>
            <a:ext cx="14630400" cy="6001588"/>
          </a:xfrm>
          <a:prstGeom prst="rect">
            <a:avLst/>
          </a:prstGeom>
        </p:spPr>
      </p:pic>
    </p:spTree>
    <p:extLst>
      <p:ext uri="{BB962C8B-B14F-4D97-AF65-F5344CB8AC3E}">
        <p14:creationId xmlns:p14="http://schemas.microsoft.com/office/powerpoint/2010/main" val="3306474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22802" y="745212"/>
            <a:ext cx="7671197" cy="1168718"/>
          </a:xfrm>
          <a:prstGeom prst="rect">
            <a:avLst/>
          </a:prstGeom>
          <a:noFill/>
          <a:ln/>
        </p:spPr>
        <p:txBody>
          <a:bodyPr wrap="square" lIns="0" tIns="0" rIns="0" bIns="0" rtlCol="0" anchor="t"/>
          <a:lstStyle/>
          <a:p>
            <a:pPr marL="0" indent="0" algn="l">
              <a:lnSpc>
                <a:spcPts val="4600"/>
              </a:lnSpc>
              <a:buNone/>
            </a:pPr>
            <a:r>
              <a:rPr lang="en-US" sz="3650" b="1" dirty="0">
                <a:solidFill>
                  <a:srgbClr val="FFE14D"/>
                </a:solidFill>
                <a:latin typeface="Comfortaa Bold" pitchFamily="34" charset="0"/>
                <a:ea typeface="Comfortaa Bold" pitchFamily="34" charset="-122"/>
                <a:cs typeface="Comfortaa Bold" pitchFamily="34" charset="-120"/>
              </a:rPr>
              <a:t>Performance Insights &amp; Challenges</a:t>
            </a:r>
            <a:endParaRPr lang="en-US" sz="3650" dirty="0"/>
          </a:p>
        </p:txBody>
      </p:sp>
      <p:sp>
        <p:nvSpPr>
          <p:cNvPr id="4" name="Shape 1"/>
          <p:cNvSpPr/>
          <p:nvPr/>
        </p:nvSpPr>
        <p:spPr>
          <a:xfrm>
            <a:off x="6222802" y="2229445"/>
            <a:ext cx="3730347" cy="2690574"/>
          </a:xfrm>
          <a:prstGeom prst="roundRect">
            <a:avLst>
              <a:gd name="adj" fmla="val 11730"/>
            </a:avLst>
          </a:prstGeom>
          <a:solidFill>
            <a:srgbClr val="46464A"/>
          </a:solidFill>
          <a:ln/>
        </p:spPr>
      </p:sp>
      <p:sp>
        <p:nvSpPr>
          <p:cNvPr id="5" name="Shape 2"/>
          <p:cNvSpPr/>
          <p:nvPr/>
        </p:nvSpPr>
        <p:spPr>
          <a:xfrm>
            <a:off x="6433185" y="2439829"/>
            <a:ext cx="631150" cy="631150"/>
          </a:xfrm>
          <a:prstGeom prst="roundRect">
            <a:avLst>
              <a:gd name="adj" fmla="val 14486391"/>
            </a:avLst>
          </a:prstGeom>
          <a:solidFill>
            <a:srgbClr val="FFE14D"/>
          </a:solidFill>
          <a:ln/>
        </p:spPr>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06778" y="2613303"/>
            <a:ext cx="283964" cy="283964"/>
          </a:xfrm>
          <a:prstGeom prst="rect">
            <a:avLst/>
          </a:prstGeom>
        </p:spPr>
      </p:pic>
      <p:sp>
        <p:nvSpPr>
          <p:cNvPr id="7" name="Text 3"/>
          <p:cNvSpPr/>
          <p:nvPr/>
        </p:nvSpPr>
        <p:spPr>
          <a:xfrm>
            <a:off x="6433185" y="3281363"/>
            <a:ext cx="2337792" cy="292298"/>
          </a:xfrm>
          <a:prstGeom prst="rect">
            <a:avLst/>
          </a:prstGeom>
          <a:noFill/>
          <a:ln/>
        </p:spPr>
        <p:txBody>
          <a:bodyPr wrap="none" lIns="0" tIns="0" rIns="0" bIns="0" rtlCol="0" anchor="t"/>
          <a:lstStyle/>
          <a:p>
            <a:pPr marL="0" indent="0" algn="l">
              <a:lnSpc>
                <a:spcPts val="2300"/>
              </a:lnSpc>
              <a:buNone/>
            </a:pPr>
            <a:r>
              <a:rPr lang="en-US" sz="1800" b="1" dirty="0">
                <a:solidFill>
                  <a:srgbClr val="D7D4CC"/>
                </a:solidFill>
                <a:latin typeface="Comfortaa Bold" pitchFamily="34" charset="0"/>
                <a:ea typeface="Comfortaa Bold" pitchFamily="34" charset="-122"/>
                <a:cs typeface="Comfortaa Bold" pitchFamily="34" charset="-120"/>
              </a:rPr>
              <a:t>Accuracy Achieved</a:t>
            </a:r>
            <a:endParaRPr lang="en-US" sz="1800" dirty="0"/>
          </a:p>
        </p:txBody>
      </p:sp>
      <p:sp>
        <p:nvSpPr>
          <p:cNvPr id="8" name="Text 4"/>
          <p:cNvSpPr/>
          <p:nvPr/>
        </p:nvSpPr>
        <p:spPr>
          <a:xfrm>
            <a:off x="6433185" y="3699867"/>
            <a:ext cx="3309580" cy="1009769"/>
          </a:xfrm>
          <a:prstGeom prst="rect">
            <a:avLst/>
          </a:prstGeom>
          <a:noFill/>
          <a:ln/>
        </p:spPr>
        <p:txBody>
          <a:bodyPr wrap="square" lIns="0" tIns="0" rIns="0" bIns="0" rtlCol="0" anchor="t"/>
          <a:lstStyle/>
          <a:p>
            <a:pPr marL="0" indent="0" algn="l">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Typical models achieve 65-80% accuracy, varying with dataset quality and model architecture.</a:t>
            </a:r>
            <a:endParaRPr lang="en-US" sz="1650" dirty="0"/>
          </a:p>
        </p:txBody>
      </p:sp>
      <p:sp>
        <p:nvSpPr>
          <p:cNvPr id="9" name="Shape 5"/>
          <p:cNvSpPr/>
          <p:nvPr/>
        </p:nvSpPr>
        <p:spPr>
          <a:xfrm>
            <a:off x="10163532" y="2229445"/>
            <a:ext cx="3730466" cy="2690574"/>
          </a:xfrm>
          <a:prstGeom prst="roundRect">
            <a:avLst>
              <a:gd name="adj" fmla="val 11730"/>
            </a:avLst>
          </a:prstGeom>
          <a:solidFill>
            <a:srgbClr val="46464A"/>
          </a:solidFill>
          <a:ln/>
        </p:spPr>
      </p:sp>
      <p:sp>
        <p:nvSpPr>
          <p:cNvPr id="10" name="Shape 6"/>
          <p:cNvSpPr/>
          <p:nvPr/>
        </p:nvSpPr>
        <p:spPr>
          <a:xfrm>
            <a:off x="10373916" y="2439829"/>
            <a:ext cx="631150" cy="631150"/>
          </a:xfrm>
          <a:prstGeom prst="roundRect">
            <a:avLst>
              <a:gd name="adj" fmla="val 14486391"/>
            </a:avLst>
          </a:prstGeom>
          <a:solidFill>
            <a:srgbClr val="FFE14D"/>
          </a:solidFill>
          <a:ln/>
        </p:spPr>
      </p:sp>
      <p:pic>
        <p:nvPicPr>
          <p:cNvPr id="11"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47509" y="2613303"/>
            <a:ext cx="283964" cy="283964"/>
          </a:xfrm>
          <a:prstGeom prst="rect">
            <a:avLst/>
          </a:prstGeom>
        </p:spPr>
      </p:pic>
      <p:sp>
        <p:nvSpPr>
          <p:cNvPr id="12" name="Text 7"/>
          <p:cNvSpPr/>
          <p:nvPr/>
        </p:nvSpPr>
        <p:spPr>
          <a:xfrm>
            <a:off x="10373916" y="3281363"/>
            <a:ext cx="2530316" cy="292298"/>
          </a:xfrm>
          <a:prstGeom prst="rect">
            <a:avLst/>
          </a:prstGeom>
          <a:noFill/>
          <a:ln/>
        </p:spPr>
        <p:txBody>
          <a:bodyPr wrap="none" lIns="0" tIns="0" rIns="0" bIns="0" rtlCol="0" anchor="t"/>
          <a:lstStyle/>
          <a:p>
            <a:pPr marL="0" indent="0" algn="l">
              <a:lnSpc>
                <a:spcPts val="2300"/>
              </a:lnSpc>
              <a:buNone/>
            </a:pPr>
            <a:r>
              <a:rPr lang="en-US" sz="1800" b="1" dirty="0">
                <a:solidFill>
                  <a:srgbClr val="D7D4CC"/>
                </a:solidFill>
                <a:latin typeface="Comfortaa Bold" pitchFamily="34" charset="0"/>
                <a:ea typeface="Comfortaa Bold" pitchFamily="34" charset="-122"/>
                <a:cs typeface="Comfortaa Bold" pitchFamily="34" charset="-120"/>
              </a:rPr>
              <a:t>Common Confusions</a:t>
            </a:r>
            <a:endParaRPr lang="en-US" sz="1800" dirty="0"/>
          </a:p>
        </p:txBody>
      </p:sp>
      <p:sp>
        <p:nvSpPr>
          <p:cNvPr id="13" name="Text 8"/>
          <p:cNvSpPr/>
          <p:nvPr/>
        </p:nvSpPr>
        <p:spPr>
          <a:xfrm>
            <a:off x="10373916" y="3699867"/>
            <a:ext cx="3309699" cy="1009769"/>
          </a:xfrm>
          <a:prstGeom prst="rect">
            <a:avLst/>
          </a:prstGeom>
          <a:noFill/>
          <a:ln/>
        </p:spPr>
        <p:txBody>
          <a:bodyPr wrap="square" lIns="0" tIns="0" rIns="0" bIns="0" rtlCol="0" anchor="t"/>
          <a:lstStyle/>
          <a:p>
            <a:pPr marL="0" indent="0" algn="l">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Anger vs. happy, neutral vs. sad are often confused due to similar acoustic patterns.</a:t>
            </a:r>
            <a:endParaRPr lang="en-US" sz="1650" dirty="0"/>
          </a:p>
        </p:txBody>
      </p:sp>
      <p:sp>
        <p:nvSpPr>
          <p:cNvPr id="14" name="Shape 9"/>
          <p:cNvSpPr/>
          <p:nvPr/>
        </p:nvSpPr>
        <p:spPr>
          <a:xfrm>
            <a:off x="6222802" y="5130403"/>
            <a:ext cx="8407598" cy="3099197"/>
          </a:xfrm>
          <a:prstGeom prst="roundRect">
            <a:avLst>
              <a:gd name="adj" fmla="val 13407"/>
            </a:avLst>
          </a:prstGeom>
          <a:solidFill>
            <a:srgbClr val="46464A"/>
          </a:solidFill>
          <a:ln/>
        </p:spPr>
      </p:sp>
      <p:sp>
        <p:nvSpPr>
          <p:cNvPr id="15" name="Shape 10"/>
          <p:cNvSpPr/>
          <p:nvPr/>
        </p:nvSpPr>
        <p:spPr>
          <a:xfrm>
            <a:off x="6433185" y="5340787"/>
            <a:ext cx="631150" cy="631150"/>
          </a:xfrm>
          <a:prstGeom prst="roundRect">
            <a:avLst>
              <a:gd name="adj" fmla="val 14486391"/>
            </a:avLst>
          </a:prstGeom>
          <a:solidFill>
            <a:srgbClr val="FFE14D"/>
          </a:solidFill>
          <a:ln/>
        </p:spPr>
      </p:sp>
      <p:pic>
        <p:nvPicPr>
          <p:cNvPr id="16"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606778" y="5514261"/>
            <a:ext cx="283964" cy="283964"/>
          </a:xfrm>
          <a:prstGeom prst="rect">
            <a:avLst/>
          </a:prstGeom>
        </p:spPr>
      </p:pic>
      <p:sp>
        <p:nvSpPr>
          <p:cNvPr id="17" name="Text 11"/>
          <p:cNvSpPr/>
          <p:nvPr/>
        </p:nvSpPr>
        <p:spPr>
          <a:xfrm>
            <a:off x="6433185" y="6182320"/>
            <a:ext cx="2735461" cy="292298"/>
          </a:xfrm>
          <a:prstGeom prst="rect">
            <a:avLst/>
          </a:prstGeom>
          <a:noFill/>
          <a:ln/>
        </p:spPr>
        <p:txBody>
          <a:bodyPr wrap="none" lIns="0" tIns="0" rIns="0" bIns="0" rtlCol="0" anchor="t"/>
          <a:lstStyle/>
          <a:p>
            <a:pPr marL="0" indent="0" algn="l">
              <a:lnSpc>
                <a:spcPts val="2300"/>
              </a:lnSpc>
              <a:buNone/>
            </a:pPr>
            <a:r>
              <a:rPr lang="en-US" sz="1800" b="1" dirty="0">
                <a:solidFill>
                  <a:srgbClr val="D7D4CC"/>
                </a:solidFill>
                <a:latin typeface="Comfortaa Bold" pitchFamily="34" charset="0"/>
                <a:ea typeface="Comfortaa Bold" pitchFamily="34" charset="-122"/>
                <a:cs typeface="Comfortaa Bold" pitchFamily="34" charset="-120"/>
              </a:rPr>
              <a:t>Boosting Performance</a:t>
            </a:r>
            <a:endParaRPr lang="en-US" sz="1800" dirty="0"/>
          </a:p>
        </p:txBody>
      </p:sp>
      <p:sp>
        <p:nvSpPr>
          <p:cNvPr id="18" name="Text 12"/>
          <p:cNvSpPr/>
          <p:nvPr/>
        </p:nvSpPr>
        <p:spPr>
          <a:xfrm>
            <a:off x="6433185" y="6600825"/>
            <a:ext cx="7250430" cy="673179"/>
          </a:xfrm>
          <a:prstGeom prst="rect">
            <a:avLst/>
          </a:prstGeom>
          <a:noFill/>
          <a:ln/>
        </p:spPr>
        <p:txBody>
          <a:bodyPr wrap="square" lIns="0" tIns="0" rIns="0" bIns="0" rtlCol="0" anchor="t"/>
          <a:lstStyle/>
          <a:p>
            <a:pPr marL="0" indent="0" algn="l">
              <a:lnSpc>
                <a:spcPts val="2650"/>
              </a:lnSpc>
              <a:buNone/>
            </a:pPr>
            <a:r>
              <a:rPr lang="en-US" sz="1650" dirty="0">
                <a:solidFill>
                  <a:srgbClr val="D7D4CC"/>
                </a:solidFill>
                <a:latin typeface="Raleway Medium" pitchFamily="34" charset="0"/>
                <a:ea typeface="Raleway Medium" pitchFamily="34" charset="-122"/>
                <a:cs typeface="Raleway Medium" pitchFamily="34" charset="-120"/>
              </a:rPr>
              <a:t>Data augmentation and multi-feature fusion (e.g., chroma, spectral contrast) are key to improvements.</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315455" y="660678"/>
            <a:ext cx="7035879" cy="685800"/>
          </a:xfrm>
          <a:prstGeom prst="rect">
            <a:avLst/>
          </a:prstGeom>
          <a:noFill/>
          <a:ln/>
        </p:spPr>
        <p:txBody>
          <a:bodyPr wrap="none" lIns="0" tIns="0" rIns="0" bIns="0" rtlCol="0" anchor="t"/>
          <a:lstStyle/>
          <a:p>
            <a:pPr marL="0" indent="0" algn="l">
              <a:lnSpc>
                <a:spcPts val="5400"/>
              </a:lnSpc>
              <a:buNone/>
            </a:pPr>
            <a:r>
              <a:rPr lang="en-US" sz="4300" b="1" dirty="0">
                <a:solidFill>
                  <a:srgbClr val="FFE14D"/>
                </a:solidFill>
                <a:latin typeface="Comfortaa Bold" pitchFamily="34" charset="0"/>
                <a:ea typeface="Comfortaa Bold" pitchFamily="34" charset="-122"/>
                <a:cs typeface="Comfortaa Bold" pitchFamily="34" charset="-120"/>
              </a:rPr>
              <a:t>Conclusion &amp; Next Steps</a:t>
            </a:r>
            <a:endParaRPr lang="en-US" sz="4300" dirty="0"/>
          </a:p>
        </p:txBody>
      </p:sp>
      <p:sp>
        <p:nvSpPr>
          <p:cNvPr id="4" name="Text 1"/>
          <p:cNvSpPr/>
          <p:nvPr/>
        </p:nvSpPr>
        <p:spPr>
          <a:xfrm>
            <a:off x="315455" y="1456194"/>
            <a:ext cx="7415927" cy="1580198"/>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Emotion recognition from speech, leveraging MFCCs and deep learning, offers immense potential across various domains. The combination of CNN and RNN architectures effectively captures both the static and dynamic aspects of emotional speech.</a:t>
            </a:r>
            <a:endParaRPr lang="en-US" sz="1900" dirty="0"/>
          </a:p>
        </p:txBody>
      </p:sp>
      <p:pic>
        <p:nvPicPr>
          <p:cNvPr id="5"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5455" y="3501658"/>
            <a:ext cx="370284" cy="370284"/>
          </a:xfrm>
          <a:prstGeom prst="rect">
            <a:avLst/>
          </a:prstGeom>
        </p:spPr>
      </p:pic>
      <p:sp>
        <p:nvSpPr>
          <p:cNvPr id="6" name="Text 2"/>
          <p:cNvSpPr/>
          <p:nvPr/>
        </p:nvSpPr>
        <p:spPr>
          <a:xfrm>
            <a:off x="818845" y="3515350"/>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Future Directions</a:t>
            </a:r>
            <a:endParaRPr lang="en-US" sz="2150" dirty="0"/>
          </a:p>
        </p:txBody>
      </p:sp>
      <p:sp>
        <p:nvSpPr>
          <p:cNvPr id="7" name="Text 3"/>
          <p:cNvSpPr/>
          <p:nvPr/>
        </p:nvSpPr>
        <p:spPr>
          <a:xfrm>
            <a:off x="737650" y="4006364"/>
            <a:ext cx="6613684" cy="1185148"/>
          </a:xfrm>
          <a:prstGeom prst="rect">
            <a:avLst/>
          </a:prstGeom>
          <a:noFill/>
          <a:ln/>
        </p:spPr>
        <p:txBody>
          <a:bodyPr wrap="square" lIns="0" tIns="0" rIns="0" bIns="0" rtlCol="0" anchor="t"/>
          <a:lstStyle/>
          <a:p>
            <a:pPr>
              <a:lnSpc>
                <a:spcPts val="3100"/>
              </a:lnSpc>
            </a:pPr>
            <a:r>
              <a:rPr lang="en-US" dirty="0">
                <a:solidFill>
                  <a:schemeClr val="bg2"/>
                </a:solidFill>
                <a:latin typeface="Raleway Medium" pitchFamily="2" charset="0"/>
              </a:rPr>
              <a:t>You could emphasize that Hybrid Models (CNN+RNN) are a step towards future success and link the challenge of subtlety to the need for multimodal and robust solutions.</a:t>
            </a:r>
          </a:p>
        </p:txBody>
      </p:sp>
      <p:pic>
        <p:nvPicPr>
          <p:cNvPr id="8"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5455" y="5467735"/>
            <a:ext cx="370284" cy="370284"/>
          </a:xfrm>
          <a:prstGeom prst="rect">
            <a:avLst/>
          </a:prstGeom>
        </p:spPr>
      </p:pic>
      <p:sp>
        <p:nvSpPr>
          <p:cNvPr id="9" name="Text 4"/>
          <p:cNvSpPr/>
          <p:nvPr/>
        </p:nvSpPr>
        <p:spPr>
          <a:xfrm>
            <a:off x="1090194" y="5506417"/>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D7D4CC"/>
                </a:solidFill>
                <a:latin typeface="Comfortaa Bold" pitchFamily="34" charset="0"/>
                <a:ea typeface="Comfortaa Bold" pitchFamily="34" charset="-122"/>
                <a:cs typeface="Comfortaa Bold" pitchFamily="34" charset="-120"/>
              </a:rPr>
              <a:t>Action Call</a:t>
            </a:r>
            <a:endParaRPr lang="en-US" sz="2150" dirty="0"/>
          </a:p>
        </p:txBody>
      </p:sp>
      <p:sp>
        <p:nvSpPr>
          <p:cNvPr id="10" name="Text 5"/>
          <p:cNvSpPr/>
          <p:nvPr/>
        </p:nvSpPr>
        <p:spPr>
          <a:xfrm>
            <a:off x="685739" y="6112073"/>
            <a:ext cx="6613684" cy="790099"/>
          </a:xfrm>
          <a:prstGeom prst="rect">
            <a:avLst/>
          </a:prstGeom>
          <a:noFill/>
          <a:ln/>
        </p:spPr>
        <p:txBody>
          <a:bodyPr wrap="square" lIns="0" tIns="0" rIns="0" bIns="0" rtlCol="0" anchor="t"/>
          <a:lstStyle/>
          <a:p>
            <a:pPr marL="0" indent="0" algn="l">
              <a:lnSpc>
                <a:spcPts val="3100"/>
              </a:lnSpc>
              <a:buNone/>
            </a:pPr>
            <a:r>
              <a:rPr lang="en-US" sz="1900" dirty="0">
                <a:solidFill>
                  <a:srgbClr val="D7D4CC"/>
                </a:solidFill>
                <a:latin typeface="Raleway Medium" pitchFamily="34" charset="0"/>
                <a:ea typeface="Raleway Medium" pitchFamily="34" charset="-122"/>
                <a:cs typeface="Raleway Medium" pitchFamily="34" charset="-120"/>
              </a:rPr>
              <a:t>Dive into the code and build your own sophisticated emotion recognition system to unlock new possibilities!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1193</TotalTime>
  <Words>1162</Words>
  <Application>Microsoft Office PowerPoint</Application>
  <PresentationFormat>Custom</PresentationFormat>
  <Paragraphs>138</Paragraphs>
  <Slides>12</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Raleway Medium</vt:lpstr>
      <vt:lpstr>Comfortaa Bold</vt:lpstr>
      <vt:lpstr>Arial</vt:lpstr>
      <vt:lpstr>Comfortaa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pc</dc:creator>
  <cp:lastModifiedBy>abdullah shahzad</cp:lastModifiedBy>
  <cp:revision>8</cp:revision>
  <dcterms:created xsi:type="dcterms:W3CDTF">2025-11-30T13:47:36Z</dcterms:created>
  <dcterms:modified xsi:type="dcterms:W3CDTF">2025-12-01T13:07:08Z</dcterms:modified>
</cp:coreProperties>
</file>